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1"/>
  </p:notesMasterIdLst>
  <p:sldIdLst>
    <p:sldId id="256" r:id="rId2"/>
    <p:sldId id="267" r:id="rId3"/>
    <p:sldId id="291" r:id="rId4"/>
    <p:sldId id="303" r:id="rId5"/>
    <p:sldId id="318" r:id="rId6"/>
    <p:sldId id="260" r:id="rId7"/>
    <p:sldId id="307" r:id="rId8"/>
    <p:sldId id="319" r:id="rId9"/>
    <p:sldId id="309" r:id="rId10"/>
    <p:sldId id="310" r:id="rId11"/>
    <p:sldId id="311" r:id="rId12"/>
    <p:sldId id="320" r:id="rId13"/>
    <p:sldId id="312" r:id="rId14"/>
    <p:sldId id="313" r:id="rId15"/>
    <p:sldId id="314" r:id="rId16"/>
    <p:sldId id="315" r:id="rId17"/>
    <p:sldId id="316" r:id="rId18"/>
    <p:sldId id="317" r:id="rId19"/>
    <p:sldId id="287" r:id="rId20"/>
  </p:sldIdLst>
  <p:sldSz cx="18288000" cy="10287000"/>
  <p:notesSz cx="6858000" cy="9144000"/>
  <p:embeddedFontLst>
    <p:embeddedFont>
      <p:font typeface="Cambria Bold" panose="02040803050406030204" pitchFamily="18" charset="0"/>
      <p:bold r:id="rId22"/>
    </p:embeddedFont>
    <p:embeddedFont>
      <p:font typeface="Segoe UI Black" panose="020B0A02040204020203" pitchFamily="34" charset="0"/>
      <p:bold r:id="rId23"/>
      <p:boldItalic r:id="rId24"/>
    </p:embeddedFont>
    <p:embeddedFont>
      <p:font typeface="TT Rounds Condensed" panose="020B0604020202020204" charset="0"/>
      <p:regular r:id="rId25"/>
    </p:embeddedFont>
    <p:embeddedFont>
      <p:font typeface="TT Rounds Condensed Bold" panose="020B0604020202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CC"/>
    <a:srgbClr val="1B77BF"/>
    <a:srgbClr val="00A651"/>
    <a:srgbClr val="2980B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hông có Kiểu, Lưới Bảng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Không có Kiểu, Không có Lưới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5033" autoAdjust="0"/>
  </p:normalViewPr>
  <p:slideViewPr>
    <p:cSldViewPr>
      <p:cViewPr>
        <p:scale>
          <a:sx n="55" d="100"/>
          <a:sy n="55" d="100"/>
        </p:scale>
        <p:origin x="658" y="3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15.12.2025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b8a5aef315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b8a5aef315_1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6CB7F-2BAE-76F9-8116-8443A1912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D219D77-62C9-7177-3079-DDFAF0C763D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5179F82-791A-0062-79CA-16ED509F606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5358487-F8D2-10FD-16AA-B501ED31EB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019F80B-C248-4F18-87F6-70808FAD52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04546-75EB-EF00-EDE6-93FB5E6FAA5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34D763-72AB-C04F-9226-A9B12D074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7916834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D2C504-2C56-9CD9-A03B-54F069123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3E4731D-3A35-71F0-D1B5-687659DC32F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8CBED4-0289-D435-B131-426B0E2892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B7EE241E-43EB-76B6-D9E4-66DDBA3AEA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3C8002F9-D95E-4A8D-EB4C-21A6A483B6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2C918E-46AD-F42B-D507-784DC9902CB7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05BBE1-13E5-7507-3902-3B94D53EBF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3763747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948AE-1E1A-9B69-CAC7-2BBABFDEC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69DF98-92C5-F072-B8E0-D42831C45F7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249FF1-5689-CF2E-FDC4-EE39AE9082D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4F0E01EA-9572-DBE0-D2C6-A3FACD8C92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C6D5F44-2756-846F-513A-598EFFDF1E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C66160-6E10-2827-31BE-C08C2019B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DA1ADD-9DE5-2CFA-0400-8461913C1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323591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34AA7-7AB8-9A0A-C16E-FA5A3DF61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1229311-CC9E-81AA-9833-904C15B27ED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6189CE-49DD-3E18-B1F5-98BD2B0BCE6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FCAE320-AB84-B7E0-F840-677D9AED1C3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8735779-829C-A011-2090-7107A2BC77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DE6B6C-6751-E928-0539-591975EB54D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F185BD-A59E-F702-C598-AF5B8102ED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104055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1715E-CD6F-F78C-FF91-CF9982BA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2758CD-6569-5D1C-4B0E-8ED9C101A58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79107-5C9A-01F9-925C-00A2BB2141A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F2EDD2B6-B905-0450-0B69-80CFB0E0BC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B0AE20A-4595-49A1-BC4B-E5C23D9CEE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38A17-82C7-AF7E-0D28-04D0F5D27F7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EBAE4A-AB85-23AE-1864-2700B8270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36856342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842FE-FC40-37F6-8358-1CC7A5A0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E52FA6-5042-43AA-2389-DBE091509C6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BF67EB-01A4-0172-AFCB-1B08700F922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8664656B-E43E-6160-68DC-1581FC3AEA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6A4C76E6-13C4-D385-09C2-70A39DC194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872B06-A9F8-D4F2-9679-806BD10D25C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A929FD-E79C-1D17-1B8B-902FABBE6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1440466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359E7-D014-58EF-8172-E304AA457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99590DD-AE26-BCA6-8CDF-455E79CAE9E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103CB8-2400-ED3D-1AFF-79449CA48F0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017CCD8-4F44-B230-FB93-EDCAF47777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EB3E046-CC54-1CA8-E46D-3AF345693E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F11AD0-724F-C020-5D56-147BB6D7B74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03FB30-5986-E997-4235-49946E86BE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4777037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3A489-0C29-9135-779B-6A83FA46B4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4F53E0-E450-5575-60FB-4CFE814C3D1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95B72-6C20-7FC4-687A-79D43D737324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93E9927-40F9-B3E7-D129-FE976B3683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2F4D89C8-44F8-B5AF-2F89-7BF1E68E85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752A6A-E290-180F-EBBA-C97177F9F7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7B6981-79A5-D48D-1C26-B794821C0B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249225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3BFA7-F7F7-0434-7F99-CD4EF7AD7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2BDE1FE-C22A-B5B7-A504-33A4EA14F46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1E7737-AA5B-C1E0-1331-6CB638D36542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0BBCC61-D162-5A2A-14B2-45EAE478D8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C3B93E0F-DEF1-02BE-FF66-0A3259FD2B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1315E4-2835-58C5-4150-6B552F383885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BF659-89FC-D065-ACA5-2B232EA55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667414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79191-0945-3280-7374-22FC5C1C2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4C1C510-6CF5-7BAA-AEC0-673AA3C195F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C60C19-0F92-A592-AC88-257382DF9120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A516A836-D3A8-9435-C762-898612D4FD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A6687CC-C74E-337C-4F40-6465D19259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B67A30-3A94-D446-B4E6-300AF8057EA0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BD5880-DE53-83B0-BA69-220DF171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5784537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EE37D-13D2-2DF5-7D4D-AA49946C84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58BED4B-D111-7A45-627A-86B233DA44A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6B17A1-F98F-4623-F3CA-927730FE7253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951C383D-35F3-5340-A3B3-7DF9AE4C3D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213552E-0CB3-5A7C-A29D-8AEBD8EBEC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5900-9250-5220-D42F-6DFECA798B9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1FB750-1E44-4EAB-4AD4-6CFC6853A8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853474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2C5CB-5DA6-EA55-D4FA-55A3CCBB5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8D3E7DC-2396-2F38-BF68-B73BE3BE3AF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7BC867F-4C00-F6AE-8F4B-FD874900D1B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007B7C88-8B77-D2FC-21F8-3C8679723A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79E8E0FB-7948-654A-18F0-798DDE5628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639F1-862C-BE03-D482-E2880918EFB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1A648-7F32-A71F-EB78-E2A3AD323E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750580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F12EB-3B0E-824A-45D2-08157C174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1B041D-6E93-E734-728A-965C36D94E8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216F50-4079-3A67-0C08-8939948EB3A8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76341486-C5CC-EBCC-EEF4-30A097A5A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B31ECBE2-6234-B49C-14D1-DB645516FA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1610E-71D1-77D6-795D-051A77735BCC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4A5D86-1934-51F8-C97E-6A35AE499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37024977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B0E874-3B61-A64B-D9BA-F5B1A29E0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E576888-2F5F-B3FE-9E68-E2C2B9DE688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B50454-D131-F449-63AC-73BD9D72544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D4770961-A7E2-808B-27E0-0C9B1B37A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AE8C95A7-1C19-9B43-4833-6F2B7DA953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22F56-4186-56C6-1494-79DD2F9E9B1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9F201-1028-6140-35A7-1C5734A030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42839284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9CE75-9314-A32D-1783-7A82E508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1E7F91F-3FC8-105B-FF0C-66700660F3D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56B891-7A90-8FB3-94E1-9B053D8B244B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E4F5E4A-2119-05AD-F027-1994229D7E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11F4F3D4-6FB1-19B2-BE37-594305B5F4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giới thiệu về các language modeling (RNN, LSTM,...) và giới thiệu về kiến trúc mới Transformers, giới thiệu về experiment (task dịch máy EN-GER và EN-FR, cho thấy hiệu quả của Transformers và các model khác), giới thiệu về application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A66F11-25AF-DB03-A5AF-2C47B34E565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C95961-B648-66B7-EC6B-412E529D0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2892864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 3">
  <p:cSld name="Title and four columns 3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5"/>
          <p:cNvSpPr txBox="1">
            <a:spLocks noGrp="1"/>
          </p:cNvSpPr>
          <p:nvPr>
            <p:ph type="title"/>
          </p:nvPr>
        </p:nvSpPr>
        <p:spPr>
          <a:xfrm>
            <a:off x="1448100" y="695650"/>
            <a:ext cx="15391800" cy="96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25"/>
          <p:cNvSpPr txBox="1">
            <a:spLocks noGrp="1"/>
          </p:cNvSpPr>
          <p:nvPr>
            <p:ph type="subTitle" idx="1"/>
          </p:nvPr>
        </p:nvSpPr>
        <p:spPr>
          <a:xfrm>
            <a:off x="4690372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25"/>
          <p:cNvSpPr txBox="1">
            <a:spLocks noGrp="1"/>
          </p:cNvSpPr>
          <p:nvPr>
            <p:ph type="subTitle" idx="2"/>
          </p:nvPr>
        </p:nvSpPr>
        <p:spPr>
          <a:xfrm>
            <a:off x="4690350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5" name="Google Shape;285;p25"/>
          <p:cNvSpPr txBox="1">
            <a:spLocks noGrp="1"/>
          </p:cNvSpPr>
          <p:nvPr>
            <p:ph type="subTitle" idx="3"/>
          </p:nvPr>
        </p:nvSpPr>
        <p:spPr>
          <a:xfrm>
            <a:off x="469034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6" name="Google Shape;286;p25"/>
          <p:cNvSpPr txBox="1">
            <a:spLocks noGrp="1"/>
          </p:cNvSpPr>
          <p:nvPr>
            <p:ph type="subTitle" idx="4"/>
          </p:nvPr>
        </p:nvSpPr>
        <p:spPr>
          <a:xfrm>
            <a:off x="469037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7" name="Google Shape;287;p25"/>
          <p:cNvSpPr txBox="1">
            <a:spLocks noGrp="1"/>
          </p:cNvSpPr>
          <p:nvPr>
            <p:ph type="subTitle" idx="5"/>
          </p:nvPr>
        </p:nvSpPr>
        <p:spPr>
          <a:xfrm>
            <a:off x="12685476" y="349020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88" name="Google Shape;288;p25"/>
          <p:cNvSpPr txBox="1">
            <a:spLocks noGrp="1"/>
          </p:cNvSpPr>
          <p:nvPr>
            <p:ph type="subTitle" idx="6"/>
          </p:nvPr>
        </p:nvSpPr>
        <p:spPr>
          <a:xfrm>
            <a:off x="12685494" y="429960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  <p:sp>
        <p:nvSpPr>
          <p:cNvPr id="289" name="Google Shape;289;p25"/>
          <p:cNvSpPr/>
          <p:nvPr/>
        </p:nvSpPr>
        <p:spPr>
          <a:xfrm rot="-5400000" flipH="1">
            <a:off x="519148" y="-440581"/>
            <a:ext cx="1179608" cy="2315122"/>
          </a:xfrm>
          <a:custGeom>
            <a:avLst/>
            <a:gdLst/>
            <a:ahLst/>
            <a:cxnLst/>
            <a:rect l="l" t="t" r="r" b="b"/>
            <a:pathLst>
              <a:path w="36543" h="71720" extrusionOk="0">
                <a:moveTo>
                  <a:pt x="36543" y="1"/>
                </a:moveTo>
                <a:lnTo>
                  <a:pt x="27532" y="572"/>
                </a:lnTo>
                <a:cubicBezTo>
                  <a:pt x="27532" y="572"/>
                  <a:pt x="14721" y="15827"/>
                  <a:pt x="8619" y="32260"/>
                </a:cubicBezTo>
                <a:cubicBezTo>
                  <a:pt x="1" y="55349"/>
                  <a:pt x="10314" y="70782"/>
                  <a:pt x="16755" y="71639"/>
                </a:cubicBezTo>
                <a:cubicBezTo>
                  <a:pt x="17165" y="71692"/>
                  <a:pt x="17569" y="71719"/>
                  <a:pt x="17964" y="71719"/>
                </a:cubicBezTo>
                <a:cubicBezTo>
                  <a:pt x="23788" y="71719"/>
                  <a:pt x="27796" y="65775"/>
                  <a:pt x="25373" y="49300"/>
                </a:cubicBezTo>
                <a:cubicBezTo>
                  <a:pt x="23857" y="38933"/>
                  <a:pt x="25284" y="19592"/>
                  <a:pt x="36543" y="1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0" name="Google Shape;290;p25"/>
          <p:cNvSpPr/>
          <p:nvPr/>
        </p:nvSpPr>
        <p:spPr>
          <a:xfrm rot="-5400000" flipH="1">
            <a:off x="831168" y="-196072"/>
            <a:ext cx="629556" cy="1937220"/>
          </a:xfrm>
          <a:custGeom>
            <a:avLst/>
            <a:gdLst/>
            <a:ahLst/>
            <a:cxnLst/>
            <a:rect l="l" t="t" r="r" b="b"/>
            <a:pathLst>
              <a:path w="19503" h="60013" extrusionOk="0">
                <a:moveTo>
                  <a:pt x="18890" y="1"/>
                </a:moveTo>
                <a:cubicBezTo>
                  <a:pt x="18719" y="1"/>
                  <a:pt x="18554" y="76"/>
                  <a:pt x="18450" y="227"/>
                </a:cubicBezTo>
                <a:cubicBezTo>
                  <a:pt x="4319" y="18801"/>
                  <a:pt x="1" y="45512"/>
                  <a:pt x="4140" y="59554"/>
                </a:cubicBezTo>
                <a:cubicBezTo>
                  <a:pt x="4140" y="59589"/>
                  <a:pt x="4158" y="59643"/>
                  <a:pt x="4176" y="59679"/>
                </a:cubicBezTo>
                <a:cubicBezTo>
                  <a:pt x="4255" y="59889"/>
                  <a:pt x="4450" y="60012"/>
                  <a:pt x="4662" y="60012"/>
                </a:cubicBezTo>
                <a:cubicBezTo>
                  <a:pt x="4737" y="60012"/>
                  <a:pt x="4815" y="59997"/>
                  <a:pt x="4890" y="59964"/>
                </a:cubicBezTo>
                <a:cubicBezTo>
                  <a:pt x="5157" y="59857"/>
                  <a:pt x="5300" y="59536"/>
                  <a:pt x="5175" y="59250"/>
                </a:cubicBezTo>
                <a:cubicBezTo>
                  <a:pt x="1143" y="45440"/>
                  <a:pt x="5389" y="19176"/>
                  <a:pt x="19324" y="869"/>
                </a:cubicBezTo>
                <a:cubicBezTo>
                  <a:pt x="19503" y="637"/>
                  <a:pt x="19449" y="280"/>
                  <a:pt x="19217" y="102"/>
                </a:cubicBezTo>
                <a:lnTo>
                  <a:pt x="19164" y="66"/>
                </a:lnTo>
                <a:cubicBezTo>
                  <a:pt x="19076" y="23"/>
                  <a:pt x="18982" y="1"/>
                  <a:pt x="18890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1" name="Google Shape;291;p25"/>
          <p:cNvSpPr/>
          <p:nvPr/>
        </p:nvSpPr>
        <p:spPr>
          <a:xfrm rot="-5400000" flipH="1">
            <a:off x="150240" y="493890"/>
            <a:ext cx="1487752" cy="1978732"/>
          </a:xfrm>
          <a:custGeom>
            <a:avLst/>
            <a:gdLst/>
            <a:ahLst/>
            <a:cxnLst/>
            <a:rect l="l" t="t" r="r" b="b"/>
            <a:pathLst>
              <a:path w="46089" h="61299" extrusionOk="0">
                <a:moveTo>
                  <a:pt x="41244" y="0"/>
                </a:moveTo>
                <a:cubicBezTo>
                  <a:pt x="41241" y="0"/>
                  <a:pt x="41238" y="0"/>
                  <a:pt x="41235" y="0"/>
                </a:cubicBezTo>
                <a:cubicBezTo>
                  <a:pt x="41021" y="0"/>
                  <a:pt x="17183" y="1499"/>
                  <a:pt x="17183" y="1517"/>
                </a:cubicBezTo>
                <a:cubicBezTo>
                  <a:pt x="14899" y="2677"/>
                  <a:pt x="12705" y="3979"/>
                  <a:pt x="10581" y="5407"/>
                </a:cubicBezTo>
                <a:cubicBezTo>
                  <a:pt x="8601" y="6852"/>
                  <a:pt x="6906" y="8636"/>
                  <a:pt x="5568" y="10688"/>
                </a:cubicBezTo>
                <a:cubicBezTo>
                  <a:pt x="4711" y="11866"/>
                  <a:pt x="4247" y="13275"/>
                  <a:pt x="4229" y="14721"/>
                </a:cubicBezTo>
                <a:cubicBezTo>
                  <a:pt x="4372" y="18093"/>
                  <a:pt x="6442" y="20662"/>
                  <a:pt x="5800" y="23963"/>
                </a:cubicBezTo>
                <a:cubicBezTo>
                  <a:pt x="5068" y="27692"/>
                  <a:pt x="268" y="29780"/>
                  <a:pt x="90" y="33580"/>
                </a:cubicBezTo>
                <a:cubicBezTo>
                  <a:pt x="1" y="35507"/>
                  <a:pt x="1178" y="37274"/>
                  <a:pt x="2570" y="38612"/>
                </a:cubicBezTo>
                <a:cubicBezTo>
                  <a:pt x="4051" y="39825"/>
                  <a:pt x="5461" y="41146"/>
                  <a:pt x="6781" y="42555"/>
                </a:cubicBezTo>
                <a:cubicBezTo>
                  <a:pt x="9886" y="46445"/>
                  <a:pt x="9529" y="52172"/>
                  <a:pt x="12152" y="56419"/>
                </a:cubicBezTo>
                <a:cubicBezTo>
                  <a:pt x="12901" y="57793"/>
                  <a:pt x="13954" y="59006"/>
                  <a:pt x="15220" y="59934"/>
                </a:cubicBezTo>
                <a:cubicBezTo>
                  <a:pt x="16378" y="60652"/>
                  <a:pt x="17717" y="61298"/>
                  <a:pt x="19058" y="61298"/>
                </a:cubicBezTo>
                <a:cubicBezTo>
                  <a:pt x="19350" y="61298"/>
                  <a:pt x="19641" y="61268"/>
                  <a:pt x="19931" y="61201"/>
                </a:cubicBezTo>
                <a:cubicBezTo>
                  <a:pt x="21911" y="60737"/>
                  <a:pt x="23160" y="58703"/>
                  <a:pt x="23517" y="56686"/>
                </a:cubicBezTo>
                <a:cubicBezTo>
                  <a:pt x="23892" y="54688"/>
                  <a:pt x="23571" y="52618"/>
                  <a:pt x="23607" y="50602"/>
                </a:cubicBezTo>
                <a:cubicBezTo>
                  <a:pt x="23589" y="49639"/>
                  <a:pt x="23749" y="48693"/>
                  <a:pt x="24106" y="47819"/>
                </a:cubicBezTo>
                <a:cubicBezTo>
                  <a:pt x="24820" y="46445"/>
                  <a:pt x="25997" y="45374"/>
                  <a:pt x="27407" y="44768"/>
                </a:cubicBezTo>
                <a:cubicBezTo>
                  <a:pt x="29316" y="43822"/>
                  <a:pt x="31386" y="43304"/>
                  <a:pt x="33349" y="42484"/>
                </a:cubicBezTo>
                <a:cubicBezTo>
                  <a:pt x="35365" y="41806"/>
                  <a:pt x="37113" y="40450"/>
                  <a:pt x="38273" y="38665"/>
                </a:cubicBezTo>
                <a:cubicBezTo>
                  <a:pt x="39629" y="36274"/>
                  <a:pt x="38773" y="33491"/>
                  <a:pt x="37756" y="31154"/>
                </a:cubicBezTo>
                <a:cubicBezTo>
                  <a:pt x="36810" y="29048"/>
                  <a:pt x="35829" y="26657"/>
                  <a:pt x="36703" y="24534"/>
                </a:cubicBezTo>
                <a:cubicBezTo>
                  <a:pt x="37203" y="23499"/>
                  <a:pt x="37898" y="22571"/>
                  <a:pt x="38773" y="21822"/>
                </a:cubicBezTo>
                <a:cubicBezTo>
                  <a:pt x="39594" y="21019"/>
                  <a:pt x="40414" y="20198"/>
                  <a:pt x="41253" y="19395"/>
                </a:cubicBezTo>
                <a:cubicBezTo>
                  <a:pt x="42109" y="18575"/>
                  <a:pt x="42912" y="17700"/>
                  <a:pt x="43644" y="16790"/>
                </a:cubicBezTo>
                <a:cubicBezTo>
                  <a:pt x="45036" y="15042"/>
                  <a:pt x="45856" y="12918"/>
                  <a:pt x="45981" y="10688"/>
                </a:cubicBezTo>
                <a:cubicBezTo>
                  <a:pt x="46088" y="8725"/>
                  <a:pt x="45678" y="6763"/>
                  <a:pt x="44821" y="4996"/>
                </a:cubicBezTo>
                <a:cubicBezTo>
                  <a:pt x="44305" y="3982"/>
                  <a:pt x="42634" y="0"/>
                  <a:pt x="41244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2" name="Google Shape;292;p25"/>
          <p:cNvSpPr/>
          <p:nvPr/>
        </p:nvSpPr>
        <p:spPr>
          <a:xfrm rot="-5400000" flipH="1">
            <a:off x="553305" y="502590"/>
            <a:ext cx="498822" cy="1785600"/>
          </a:xfrm>
          <a:custGeom>
            <a:avLst/>
            <a:gdLst/>
            <a:ahLst/>
            <a:cxnLst/>
            <a:rect l="l" t="t" r="r" b="b"/>
            <a:pathLst>
              <a:path w="15453" h="55316" extrusionOk="0">
                <a:moveTo>
                  <a:pt x="14832" y="0"/>
                </a:moveTo>
                <a:cubicBezTo>
                  <a:pt x="14647" y="0"/>
                  <a:pt x="14470" y="91"/>
                  <a:pt x="14364" y="269"/>
                </a:cubicBezTo>
                <a:cubicBezTo>
                  <a:pt x="2838" y="18879"/>
                  <a:pt x="1" y="45054"/>
                  <a:pt x="3105" y="54903"/>
                </a:cubicBezTo>
                <a:cubicBezTo>
                  <a:pt x="3105" y="54921"/>
                  <a:pt x="3123" y="54938"/>
                  <a:pt x="3123" y="54974"/>
                </a:cubicBezTo>
                <a:cubicBezTo>
                  <a:pt x="3204" y="55191"/>
                  <a:pt x="3410" y="55315"/>
                  <a:pt x="3629" y="55315"/>
                </a:cubicBezTo>
                <a:cubicBezTo>
                  <a:pt x="3698" y="55315"/>
                  <a:pt x="3768" y="55303"/>
                  <a:pt x="3837" y="55277"/>
                </a:cubicBezTo>
                <a:cubicBezTo>
                  <a:pt x="4104" y="55170"/>
                  <a:pt x="4247" y="54867"/>
                  <a:pt x="4140" y="54582"/>
                </a:cubicBezTo>
                <a:cubicBezTo>
                  <a:pt x="1071" y="44964"/>
                  <a:pt x="3962" y="19200"/>
                  <a:pt x="15292" y="822"/>
                </a:cubicBezTo>
                <a:cubicBezTo>
                  <a:pt x="15452" y="572"/>
                  <a:pt x="15363" y="233"/>
                  <a:pt x="15113" y="72"/>
                </a:cubicBezTo>
                <a:cubicBezTo>
                  <a:pt x="15023" y="24"/>
                  <a:pt x="14926" y="0"/>
                  <a:pt x="1483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3" name="Google Shape;293;p25"/>
          <p:cNvSpPr/>
          <p:nvPr/>
        </p:nvSpPr>
        <p:spPr>
          <a:xfrm rot="8320551" flipH="1">
            <a:off x="15908747" y="142718"/>
            <a:ext cx="2154986" cy="2068892"/>
          </a:xfrm>
          <a:custGeom>
            <a:avLst/>
            <a:gdLst/>
            <a:ahLst/>
            <a:cxnLst/>
            <a:rect l="l" t="t" r="r" b="b"/>
            <a:pathLst>
              <a:path w="60398" h="57985" extrusionOk="0">
                <a:moveTo>
                  <a:pt x="54331" y="0"/>
                </a:moveTo>
                <a:cubicBezTo>
                  <a:pt x="54331" y="0"/>
                  <a:pt x="45535" y="11687"/>
                  <a:pt x="35507" y="23820"/>
                </a:cubicBezTo>
                <a:cubicBezTo>
                  <a:pt x="25479" y="35935"/>
                  <a:pt x="0" y="44696"/>
                  <a:pt x="10599" y="54742"/>
                </a:cubicBezTo>
                <a:cubicBezTo>
                  <a:pt x="12977" y="56996"/>
                  <a:pt x="15775" y="57984"/>
                  <a:pt x="18781" y="57984"/>
                </a:cubicBezTo>
                <a:cubicBezTo>
                  <a:pt x="29194" y="57984"/>
                  <a:pt x="42112" y="46129"/>
                  <a:pt x="48800" y="33973"/>
                </a:cubicBezTo>
                <a:cubicBezTo>
                  <a:pt x="54920" y="22821"/>
                  <a:pt x="60398" y="7905"/>
                  <a:pt x="60398" y="7905"/>
                </a:cubicBezTo>
                <a:lnTo>
                  <a:pt x="54331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4" name="Google Shape;294;p25"/>
          <p:cNvSpPr/>
          <p:nvPr/>
        </p:nvSpPr>
        <p:spPr>
          <a:xfrm rot="8320551" flipH="1">
            <a:off x="16448807" y="190574"/>
            <a:ext cx="1490986" cy="1737712"/>
          </a:xfrm>
          <a:custGeom>
            <a:avLst/>
            <a:gdLst/>
            <a:ahLst/>
            <a:cxnLst/>
            <a:rect l="l" t="t" r="r" b="b"/>
            <a:pathLst>
              <a:path w="41788" h="48703" extrusionOk="0">
                <a:moveTo>
                  <a:pt x="41262" y="1"/>
                </a:moveTo>
                <a:cubicBezTo>
                  <a:pt x="41081" y="1"/>
                  <a:pt x="40906" y="105"/>
                  <a:pt x="40824" y="282"/>
                </a:cubicBezTo>
                <a:cubicBezTo>
                  <a:pt x="26514" y="37163"/>
                  <a:pt x="607" y="47708"/>
                  <a:pt x="357" y="47815"/>
                </a:cubicBezTo>
                <a:cubicBezTo>
                  <a:pt x="125" y="47904"/>
                  <a:pt x="0" y="48154"/>
                  <a:pt x="89" y="48386"/>
                </a:cubicBezTo>
                <a:cubicBezTo>
                  <a:pt x="89" y="48404"/>
                  <a:pt x="89" y="48404"/>
                  <a:pt x="89" y="48404"/>
                </a:cubicBezTo>
                <a:cubicBezTo>
                  <a:pt x="158" y="48595"/>
                  <a:pt x="330" y="48702"/>
                  <a:pt x="512" y="48702"/>
                </a:cubicBezTo>
                <a:cubicBezTo>
                  <a:pt x="567" y="48702"/>
                  <a:pt x="624" y="48692"/>
                  <a:pt x="678" y="48671"/>
                </a:cubicBezTo>
                <a:lnTo>
                  <a:pt x="696" y="48671"/>
                </a:lnTo>
                <a:cubicBezTo>
                  <a:pt x="946" y="48564"/>
                  <a:pt x="27246" y="37877"/>
                  <a:pt x="41699" y="621"/>
                </a:cubicBezTo>
                <a:cubicBezTo>
                  <a:pt x="41788" y="389"/>
                  <a:pt x="41681" y="122"/>
                  <a:pt x="41431" y="32"/>
                </a:cubicBezTo>
                <a:cubicBezTo>
                  <a:pt x="41376" y="11"/>
                  <a:pt x="41319" y="1"/>
                  <a:pt x="41262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5" name="Google Shape;295;p25"/>
          <p:cNvSpPr/>
          <p:nvPr/>
        </p:nvSpPr>
        <p:spPr>
          <a:xfrm rot="8320551" flipH="1">
            <a:off x="16522774" y="897917"/>
            <a:ext cx="1684548" cy="1315014"/>
          </a:xfrm>
          <a:custGeom>
            <a:avLst/>
            <a:gdLst/>
            <a:ahLst/>
            <a:cxnLst/>
            <a:rect l="l" t="t" r="r" b="b"/>
            <a:pathLst>
              <a:path w="47213" h="36856" extrusionOk="0">
                <a:moveTo>
                  <a:pt x="43429" y="0"/>
                </a:moveTo>
                <a:cubicBezTo>
                  <a:pt x="31118" y="18467"/>
                  <a:pt x="10635" y="21287"/>
                  <a:pt x="6210" y="24213"/>
                </a:cubicBezTo>
                <a:cubicBezTo>
                  <a:pt x="1785" y="27121"/>
                  <a:pt x="0" y="30975"/>
                  <a:pt x="4675" y="35222"/>
                </a:cubicBezTo>
                <a:cubicBezTo>
                  <a:pt x="5905" y="36335"/>
                  <a:pt x="7829" y="36856"/>
                  <a:pt x="10161" y="36856"/>
                </a:cubicBezTo>
                <a:cubicBezTo>
                  <a:pt x="16723" y="36856"/>
                  <a:pt x="26523" y="32730"/>
                  <a:pt x="33223" y="26068"/>
                </a:cubicBezTo>
                <a:cubicBezTo>
                  <a:pt x="43626" y="15702"/>
                  <a:pt x="47212" y="5032"/>
                  <a:pt x="47212" y="5032"/>
                </a:cubicBezTo>
                <a:lnTo>
                  <a:pt x="4342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6" name="Google Shape;296;p25"/>
          <p:cNvSpPr/>
          <p:nvPr/>
        </p:nvSpPr>
        <p:spPr>
          <a:xfrm rot="8320551" flipH="1">
            <a:off x="16748807" y="976031"/>
            <a:ext cx="1412062" cy="1091122"/>
          </a:xfrm>
          <a:custGeom>
            <a:avLst/>
            <a:gdLst/>
            <a:ahLst/>
            <a:cxnLst/>
            <a:rect l="l" t="t" r="r" b="b"/>
            <a:pathLst>
              <a:path w="39576" h="30581" extrusionOk="0">
                <a:moveTo>
                  <a:pt x="39084" y="1"/>
                </a:moveTo>
                <a:cubicBezTo>
                  <a:pt x="38910" y="1"/>
                  <a:pt x="38744" y="104"/>
                  <a:pt x="38666" y="275"/>
                </a:cubicBezTo>
                <a:cubicBezTo>
                  <a:pt x="28923" y="23309"/>
                  <a:pt x="661" y="29626"/>
                  <a:pt x="429" y="29661"/>
                </a:cubicBezTo>
                <a:cubicBezTo>
                  <a:pt x="179" y="29715"/>
                  <a:pt x="1" y="29947"/>
                  <a:pt x="36" y="30197"/>
                </a:cubicBezTo>
                <a:cubicBezTo>
                  <a:pt x="83" y="30416"/>
                  <a:pt x="268" y="30581"/>
                  <a:pt x="482" y="30581"/>
                </a:cubicBezTo>
                <a:cubicBezTo>
                  <a:pt x="512" y="30581"/>
                  <a:pt x="541" y="30578"/>
                  <a:pt x="572" y="30571"/>
                </a:cubicBezTo>
                <a:cubicBezTo>
                  <a:pt x="857" y="30518"/>
                  <a:pt x="29548" y="24112"/>
                  <a:pt x="39451" y="649"/>
                </a:cubicBezTo>
                <a:cubicBezTo>
                  <a:pt x="39576" y="435"/>
                  <a:pt x="39486" y="168"/>
                  <a:pt x="39272" y="43"/>
                </a:cubicBezTo>
                <a:cubicBezTo>
                  <a:pt x="39211" y="14"/>
                  <a:pt x="39147" y="1"/>
                  <a:pt x="39084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600"/>
          </a:p>
        </p:txBody>
      </p:sp>
      <p:sp>
        <p:nvSpPr>
          <p:cNvPr id="297" name="Google Shape;297;p25"/>
          <p:cNvSpPr txBox="1">
            <a:spLocks noGrp="1"/>
          </p:cNvSpPr>
          <p:nvPr>
            <p:ph type="subTitle" idx="7"/>
          </p:nvPr>
        </p:nvSpPr>
        <p:spPr>
          <a:xfrm>
            <a:off x="12685498" y="6633450"/>
            <a:ext cx="3750600" cy="657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600" b="1">
                <a:solidFill>
                  <a:schemeClr val="accent1"/>
                </a:solidFill>
              </a:defRPr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8" name="Google Shape;298;p25"/>
          <p:cNvSpPr txBox="1">
            <a:spLocks noGrp="1"/>
          </p:cNvSpPr>
          <p:nvPr>
            <p:ph type="subTitle" idx="8"/>
          </p:nvPr>
        </p:nvSpPr>
        <p:spPr>
          <a:xfrm>
            <a:off x="12685526" y="7442850"/>
            <a:ext cx="3750600" cy="105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 lvl="1" algn="l" rtl="0">
              <a:spcBef>
                <a:spcPts val="0"/>
              </a:spcBef>
              <a:spcAft>
                <a:spcPts val="0"/>
              </a:spcAft>
              <a:buNone/>
              <a:defRPr sz="3200"/>
            </a:lvl2pPr>
            <a:lvl3pPr lvl="2" algn="l" rtl="0">
              <a:spcBef>
                <a:spcPts val="0"/>
              </a:spcBef>
              <a:spcAft>
                <a:spcPts val="0"/>
              </a:spcAft>
              <a:buNone/>
              <a:defRPr sz="3200"/>
            </a:lvl3pPr>
            <a:lvl4pPr lvl="3" algn="l" rtl="0">
              <a:spcBef>
                <a:spcPts val="0"/>
              </a:spcBef>
              <a:spcAft>
                <a:spcPts val="0"/>
              </a:spcAft>
              <a:buNone/>
              <a:defRPr sz="3200"/>
            </a:lvl4pPr>
            <a:lvl5pPr lvl="4" algn="l" rtl="0">
              <a:spcBef>
                <a:spcPts val="0"/>
              </a:spcBef>
              <a:spcAft>
                <a:spcPts val="0"/>
              </a:spcAft>
              <a:buNone/>
              <a:defRPr sz="3200"/>
            </a:lvl5pPr>
            <a:lvl6pPr lvl="5" algn="l" rtl="0">
              <a:spcBef>
                <a:spcPts val="0"/>
              </a:spcBef>
              <a:spcAft>
                <a:spcPts val="0"/>
              </a:spcAft>
              <a:buNone/>
              <a:defRPr sz="3200"/>
            </a:lvl6pPr>
            <a:lvl7pPr lvl="6" algn="l" rtl="0">
              <a:spcBef>
                <a:spcPts val="0"/>
              </a:spcBef>
              <a:spcAft>
                <a:spcPts val="0"/>
              </a:spcAft>
              <a:buNone/>
              <a:defRPr sz="3200"/>
            </a:lvl7pPr>
            <a:lvl8pPr lvl="7" algn="l" rtl="0">
              <a:spcBef>
                <a:spcPts val="0"/>
              </a:spcBef>
              <a:spcAft>
                <a:spcPts val="0"/>
              </a:spcAft>
              <a:buNone/>
              <a:defRPr sz="3200"/>
            </a:lvl8pPr>
            <a:lvl9pPr lvl="8" algn="l" rtl="0">
              <a:spcBef>
                <a:spcPts val="0"/>
              </a:spcBef>
              <a:spcAft>
                <a:spcPts val="0"/>
              </a:spcAft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65213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12/15/2025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e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jpe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sp>
        <p:nvSpPr>
          <p:cNvPr id="6" name="Freeform 6"/>
          <p:cNvSpPr/>
          <p:nvPr/>
        </p:nvSpPr>
        <p:spPr>
          <a:xfrm>
            <a:off x="633394" y="603676"/>
            <a:ext cx="1302674" cy="1302674"/>
          </a:xfrm>
          <a:custGeom>
            <a:avLst/>
            <a:gdLst/>
            <a:ahLst/>
            <a:cxnLst/>
            <a:rect l="l" t="t" r="r" b="b"/>
            <a:pathLst>
              <a:path w="1302674" h="1302674">
                <a:moveTo>
                  <a:pt x="0" y="0"/>
                </a:moveTo>
                <a:lnTo>
                  <a:pt x="1302674" y="0"/>
                </a:lnTo>
                <a:lnTo>
                  <a:pt x="1302674" y="1302674"/>
                </a:lnTo>
                <a:lnTo>
                  <a:pt x="0" y="1302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3945634" y="912114"/>
            <a:ext cx="3675888" cy="685800"/>
          </a:xfrm>
          <a:custGeom>
            <a:avLst/>
            <a:gdLst/>
            <a:ahLst/>
            <a:cxnLst/>
            <a:rect l="l" t="t" r="r" b="b"/>
            <a:pathLst>
              <a:path w="3675888" h="685800">
                <a:moveTo>
                  <a:pt x="0" y="0"/>
                </a:moveTo>
                <a:lnTo>
                  <a:pt x="3675888" y="0"/>
                </a:lnTo>
                <a:lnTo>
                  <a:pt x="3675888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821"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8" name="Group 8"/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81608" y="2403861"/>
            <a:ext cx="14831592" cy="8795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400" b="1" dirty="0">
                <a:latin typeface="Arial" panose="020B0604020202020204" pitchFamily="34" charset="0"/>
                <a:cs typeface="Arial" panose="020B0604020202020204" pitchFamily="34" charset="0"/>
              </a:rPr>
              <a:t>HỆ THỐNG GỢI Ý LUYỆN TẬP THÔNG MINH</a:t>
            </a:r>
            <a:endParaRPr lang="en-US" sz="5199" b="1" dirty="0">
              <a:solidFill>
                <a:srgbClr val="000000"/>
              </a:solidFill>
              <a:latin typeface="Arial" panose="020B0604020202020204" pitchFamily="34" charset="0"/>
              <a:ea typeface="Canva Sans Bold"/>
              <a:cs typeface="Arial" panose="020B0604020202020204" pitchFamily="34" charset="0"/>
              <a:sym typeface="Canva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667000" y="3472473"/>
            <a:ext cx="11428488" cy="17783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Khai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phá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mẫu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tập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luyện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thành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công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dựa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trên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dữ</a:t>
            </a:r>
            <a:r>
              <a:rPr lang="en-US" sz="48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4800" b="1" dirty="0" err="1">
                <a:latin typeface="Arial" panose="020B0604020202020204" pitchFamily="34" charset="0"/>
                <a:cs typeface="Arial" panose="020B0604020202020204" pitchFamily="34" charset="0"/>
              </a:rPr>
              <a:t>liệu</a:t>
            </a:r>
            <a:endParaRPr lang="en-US" sz="4800" b="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  <a:sym typeface="Canva Sans Bold"/>
            </a:endParaRPr>
          </a:p>
        </p:txBody>
      </p:sp>
      <p:pic>
        <p:nvPicPr>
          <p:cNvPr id="1026" name="Picture 2" descr="Viện Trí tuệ nhân tạo | Hanoi">
            <a:extLst>
              <a:ext uri="{FF2B5EF4-FFF2-40B4-BE49-F238E27FC236}">
                <a16:creationId xmlns:a16="http://schemas.microsoft.com/office/drawing/2014/main" id="{0433F3A5-BABB-2EFB-4816-60730541DC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8076" y="609126"/>
            <a:ext cx="1296884" cy="1302674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693D9046-D3EB-F230-5315-7E365B0F88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graphicFrame>
        <p:nvGraphicFramePr>
          <p:cNvPr id="17" name="Bảng 16">
            <a:extLst>
              <a:ext uri="{FF2B5EF4-FFF2-40B4-BE49-F238E27FC236}">
                <a16:creationId xmlns:a16="http://schemas.microsoft.com/office/drawing/2014/main" id="{9A0B7617-9062-C8A5-A46A-D6B079FEC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7126597"/>
              </p:ext>
            </p:extLst>
          </p:nvPr>
        </p:nvGraphicFramePr>
        <p:xfrm>
          <a:off x="1524000" y="6097756"/>
          <a:ext cx="5802924" cy="31212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802924">
                  <a:extLst>
                    <a:ext uri="{9D8B030D-6E8A-4147-A177-3AD203B41FA5}">
                      <a16:colId xmlns:a16="http://schemas.microsoft.com/office/drawing/2014/main" val="3325621356"/>
                    </a:ext>
                  </a:extLst>
                </a:gridCol>
              </a:tblGrid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Nhóm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thực</a:t>
                      </a:r>
                      <a:r>
                        <a:rPr lang="en-US" sz="3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</a:t>
                      </a:r>
                      <a:r>
                        <a:rPr lang="en-US" sz="32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hiện</a:t>
                      </a:r>
                      <a:endParaRPr lang="en-US" sz="32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0074800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Nguyễn Đức Minh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483356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Nguyễn Đức Huy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0973048"/>
                  </a:ext>
                </a:extLst>
              </a:tr>
              <a:tr h="78031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2800" kern="12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Dương Lý Khánh </a:t>
                      </a:r>
                      <a:r>
                        <a:rPr lang="en-US" sz="2800" kern="12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Hạ</a:t>
                      </a:r>
                      <a:endParaRPr lang="en-US" sz="2800" kern="12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844657"/>
                  </a:ext>
                </a:extLst>
              </a:tr>
            </a:tbl>
          </a:graphicData>
        </a:graphic>
      </p:graphicFrame>
      <p:pic>
        <p:nvPicPr>
          <p:cNvPr id="1028" name="Picture 4" descr="26,300+ Gym Cartoon Stock Photos, Pictures &amp; Royalty-Free Images - iStock">
            <a:extLst>
              <a:ext uri="{FF2B5EF4-FFF2-40B4-BE49-F238E27FC236}">
                <a16:creationId xmlns:a16="http://schemas.microsoft.com/office/drawing/2014/main" id="{79181468-D35D-5AD4-0B60-95B9DAA01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37423" y="5449682"/>
            <a:ext cx="5829300" cy="3905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70"/>
          <p:cNvSpPr txBox="1">
            <a:spLocks noGrp="1"/>
          </p:cNvSpPr>
          <p:nvPr>
            <p:ph type="title"/>
          </p:nvPr>
        </p:nvSpPr>
        <p:spPr>
          <a:xfrm>
            <a:off x="1448100" y="595969"/>
            <a:ext cx="15391800" cy="963000"/>
          </a:xfrm>
          <a:prstGeom prst="rect">
            <a:avLst/>
          </a:prstGeom>
        </p:spPr>
        <p:txBody>
          <a:bodyPr spcFirstLastPara="1" vert="horz" wrap="square" lIns="182850" tIns="182850" rIns="182850" bIns="182850" rtlCol="0" anchor="t" anchorCtr="0">
            <a:noAutofit/>
          </a:bodyPr>
          <a:lstStyle/>
          <a:p>
            <a:r>
              <a:rPr lang="en" sz="6000" b="1" dirty="0">
                <a:latin typeface="Arial" panose="020B0604020202020204" pitchFamily="34" charset="0"/>
                <a:cs typeface="Arial" panose="020B0604020202020204" pitchFamily="34" charset="0"/>
              </a:rPr>
              <a:t>MỤC LỤC</a:t>
            </a:r>
            <a:endParaRPr sz="6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8" name="Google Shape;1228;p70"/>
          <p:cNvSpPr/>
          <p:nvPr/>
        </p:nvSpPr>
        <p:spPr>
          <a:xfrm>
            <a:off x="7863600" y="1761400"/>
            <a:ext cx="2560800" cy="15960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A1F46E72-82F2-044B-7C67-88416924D001}"/>
              </a:ext>
            </a:extLst>
          </p:cNvPr>
          <p:cNvSpPr txBox="1"/>
          <p:nvPr/>
        </p:nvSpPr>
        <p:spPr>
          <a:xfrm>
            <a:off x="1676400" y="3310395"/>
            <a:ext cx="922934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01</a:t>
            </a:r>
            <a:r>
              <a:rPr lang="en-US" altLang="en-US" sz="56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Giới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02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Dữ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liệu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xử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lý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03 </a:t>
            </a:r>
            <a:r>
              <a:rPr lang="en-US" altLang="en-US" sz="5600" b="1" dirty="0">
                <a:solidFill>
                  <a:schemeClr val="bg2">
                    <a:lumMod val="60000"/>
                    <a:lumOff val="4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Kỹ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&amp;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thuật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toán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Arial" panose="020B0604020202020204" pitchFamily="34" charset="0"/>
              <a:ea typeface="Tahom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7" name="Hộp Văn bản 6">
            <a:extLst>
              <a:ext uri="{FF2B5EF4-FFF2-40B4-BE49-F238E27FC236}">
                <a16:creationId xmlns:a16="http://schemas.microsoft.com/office/drawing/2014/main" id="{38B7779C-5E63-927C-10B6-E2A23A023B78}"/>
              </a:ext>
            </a:extLst>
          </p:cNvPr>
          <p:cNvSpPr txBox="1"/>
          <p:nvPr/>
        </p:nvSpPr>
        <p:spPr>
          <a:xfrm>
            <a:off x="10210800" y="3341436"/>
            <a:ext cx="922934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04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Ứng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dụng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và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kết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quả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5600" b="1" dirty="0">
                <a:solidFill>
                  <a:schemeClr val="bg1">
                    <a:lumMod val="5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05  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Kết</a:t>
            </a:r>
            <a:r>
              <a:rPr lang="en-US" altLang="en-US" sz="4400" b="1" dirty="0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en-US" altLang="en-US" sz="4400" b="1" dirty="0" err="1">
                <a:solidFill>
                  <a:schemeClr val="tx1">
                    <a:lumMod val="10000"/>
                  </a:schemeClr>
                </a:solidFill>
                <a:latin typeface="+mj-lt"/>
                <a:ea typeface="Tahoma" panose="020B0604030504040204" pitchFamily="34" charset="0"/>
                <a:cs typeface="Times New Roman" panose="02020603050405020304" pitchFamily="18" charset="0"/>
              </a:rPr>
              <a:t>luận</a:t>
            </a:r>
            <a:endParaRPr lang="en-US" altLang="en-US" sz="44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40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pPr defTabSz="18288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800" b="1" dirty="0">
              <a:solidFill>
                <a:schemeClr val="tx1">
                  <a:lumMod val="10000"/>
                </a:schemeClr>
              </a:solidFill>
              <a:latin typeface="+mj-lt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" name="TextBox 12">
            <a:extLst>
              <a:ext uri="{FF2B5EF4-FFF2-40B4-BE49-F238E27FC236}">
                <a16:creationId xmlns:a16="http://schemas.microsoft.com/office/drawing/2014/main" id="{C0311A7A-D821-1962-7D3A-ECBC171A62AE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4" name="TextBox 14">
            <a:extLst>
              <a:ext uri="{FF2B5EF4-FFF2-40B4-BE49-F238E27FC236}">
                <a16:creationId xmlns:a16="http://schemas.microsoft.com/office/drawing/2014/main" id="{E9097187-81BF-63B4-6E58-5A1817161DF5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4E5142-6B26-3275-8B52-426823072C1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6" name="Group 8">
            <a:extLst>
              <a:ext uri="{FF2B5EF4-FFF2-40B4-BE49-F238E27FC236}">
                <a16:creationId xmlns:a16="http://schemas.microsoft.com/office/drawing/2014/main" id="{14012EA9-274B-BD55-4737-23C2CB91FDC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8" name="Freeform 9">
              <a:extLst>
                <a:ext uri="{FF2B5EF4-FFF2-40B4-BE49-F238E27FC236}">
                  <a16:creationId xmlns:a16="http://schemas.microsoft.com/office/drawing/2014/main" id="{B81AF03A-E4F6-FC90-A263-7C355B8004F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9" name="TextBox 11">
            <a:extLst>
              <a:ext uri="{FF2B5EF4-FFF2-40B4-BE49-F238E27FC236}">
                <a16:creationId xmlns:a16="http://schemas.microsoft.com/office/drawing/2014/main" id="{9728DB4A-08F1-EA27-167E-A0819CC7EC4A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0" name="TextBox 12">
            <a:extLst>
              <a:ext uri="{FF2B5EF4-FFF2-40B4-BE49-F238E27FC236}">
                <a16:creationId xmlns:a16="http://schemas.microsoft.com/office/drawing/2014/main" id="{E8BBEA63-7AA9-0624-CD01-64B69004A3D6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83C74-B53D-12E9-5491-05A3DF27A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F66AC9D8-59C9-1130-0768-C1F42B30B610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4FABD76-D5DD-AC4D-B21A-E11BE420E7CE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DE45D6B8-885C-6E21-D205-F33A24F5F771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8" name="TextBox 14">
            <a:extLst>
              <a:ext uri="{FF2B5EF4-FFF2-40B4-BE49-F238E27FC236}">
                <a16:creationId xmlns:a16="http://schemas.microsoft.com/office/drawing/2014/main" id="{1F4F2C0B-6397-4D45-DE77-E0EC98BB884A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A60CEE7E-9838-93C9-C7DD-76D6E4E6D220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0" name="Group 8">
            <a:extLst>
              <a:ext uri="{FF2B5EF4-FFF2-40B4-BE49-F238E27FC236}">
                <a16:creationId xmlns:a16="http://schemas.microsoft.com/office/drawing/2014/main" id="{E46414BC-99FD-5499-BF2D-85241D35EF23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4BBA794-517A-3AA1-7397-E7AF51999F6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B41040DA-A9B1-2A37-E3F6-05841D6A32CF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87355C58-99CD-D393-CE11-89C935DA21AA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sp>
        <p:nvSpPr>
          <p:cNvPr id="15" name="Freeform 3">
            <a:extLst>
              <a:ext uri="{FF2B5EF4-FFF2-40B4-BE49-F238E27FC236}">
                <a16:creationId xmlns:a16="http://schemas.microsoft.com/office/drawing/2014/main" id="{E19ABBCD-9F02-74B4-2C5A-4BDC2F71A164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BA849943-0A78-34FB-7A55-96C0934DF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1ABE61A0-B3D7-1D95-E470-96AD214496B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01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F21F5E9B-2623-B0A3-21FC-6FD6E5E0457D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15E3445D-9103-C955-37E0-EAF78863DA19}"/>
              </a:ext>
            </a:extLst>
          </p:cNvPr>
          <p:cNvSpPr txBox="1"/>
          <p:nvPr/>
        </p:nvSpPr>
        <p:spPr>
          <a:xfrm>
            <a:off x="6054095" y="582930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GIỚI THIỆU</a:t>
            </a:r>
          </a:p>
        </p:txBody>
      </p:sp>
    </p:spTree>
    <p:extLst>
      <p:ext uri="{BB962C8B-B14F-4D97-AF65-F5344CB8AC3E}">
        <p14:creationId xmlns:p14="http://schemas.microsoft.com/office/powerpoint/2010/main" val="26790839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8A515-1EB3-CA11-8502-3AF4FC80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BBE9065B-9010-BA29-4B2A-03EF43E01FB4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3C98EB3-7176-60C9-8A12-B17175A32337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59D33105-2C37-DB59-E441-C0352151448A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41F38E7-58E5-4C05-D664-02074DB4AB07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35" dirty="0" err="1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Bối</a:t>
            </a:r>
            <a:r>
              <a:rPr lang="en-US" sz="3800" spc="35" dirty="0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 </a:t>
            </a:r>
            <a:r>
              <a:rPr lang="en-US" sz="3800" spc="35" dirty="0" err="1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cảnh</a:t>
            </a:r>
            <a:r>
              <a:rPr lang="en-US" sz="3800" spc="35" dirty="0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 </a:t>
            </a:r>
            <a:r>
              <a:rPr lang="en-US" sz="3800" spc="35" dirty="0" err="1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và</a:t>
            </a:r>
            <a:r>
              <a:rPr lang="en-US" sz="3800" spc="35" dirty="0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 </a:t>
            </a:r>
            <a:r>
              <a:rPr lang="en-US" sz="3800" spc="35" dirty="0" err="1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động</a:t>
            </a:r>
            <a:r>
              <a:rPr lang="en-US" sz="3800" spc="35" dirty="0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 </a:t>
            </a:r>
            <a:r>
              <a:rPr lang="en-US" sz="3800" spc="35" dirty="0" err="1">
                <a:solidFill>
                  <a:srgbClr val="000000"/>
                </a:solidFill>
                <a:latin typeface="Cambria Bold" panose="02040803050406030204" pitchFamily="18" charset="0"/>
                <a:ea typeface="TT Rounds Condensed"/>
                <a:cs typeface="TT Rounds Condensed"/>
                <a:sym typeface="TT Rounds Condensed"/>
              </a:rPr>
              <a:t>lực</a:t>
            </a:r>
            <a:endParaRPr lang="en-US" sz="3800" spc="35" dirty="0">
              <a:solidFill>
                <a:srgbClr val="000000"/>
              </a:solidFill>
              <a:latin typeface="Cambria Bold" panose="02040803050406030204" pitchFamily="18" charset="0"/>
              <a:ea typeface="TT Rounds Condensed"/>
              <a:cs typeface="TT Rounds Condensed"/>
              <a:sym typeface="TT Rounds Condensed"/>
            </a:endParaRP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CCF79E8-4D33-57DA-E687-71AB59614A92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24" name="Freeform 24">
            <a:extLst>
              <a:ext uri="{FF2B5EF4-FFF2-40B4-BE49-F238E27FC236}">
                <a16:creationId xmlns:a16="http://schemas.microsoft.com/office/drawing/2014/main" id="{1A13E41E-6F0B-A561-1699-D7F4411AD8F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Hình chữ nhật 9">
            <a:extLst>
              <a:ext uri="{FF2B5EF4-FFF2-40B4-BE49-F238E27FC236}">
                <a16:creationId xmlns:a16="http://schemas.microsoft.com/office/drawing/2014/main" id="{2072B60E-9B45-2271-4836-85E69CF82764}"/>
              </a:ext>
            </a:extLst>
          </p:cNvPr>
          <p:cNvSpPr/>
          <p:nvPr/>
        </p:nvSpPr>
        <p:spPr>
          <a:xfrm>
            <a:off x="1385177" y="2617139"/>
            <a:ext cx="6868880" cy="18288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70% người tập </a:t>
            </a:r>
            <a:r>
              <a:rPr lang="vi-VN" sz="2400" dirty="0" err="1">
                <a:solidFill>
                  <a:schemeClr val="tx1"/>
                </a:solidFill>
                <a:latin typeface="+mj-lt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+mj-lt"/>
              </a:rPr>
              <a:t> không đạt được mục tiêu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Không biết tập gì, bao lâu, ăn thế nào cho hiệu quả </a:t>
            </a:r>
            <a:endParaRPr lang="en-US" sz="2400" dirty="0">
              <a:solidFill>
                <a:schemeClr val="tx1"/>
              </a:solidFill>
              <a:latin typeface="+mj-lt"/>
            </a:endParaRPr>
          </a:p>
          <a:p>
            <a:pPr marL="342900" indent="-342900">
              <a:buFont typeface="Calibri" panose="020F0502020204030204" pitchFamily="34" charset="0"/>
              <a:buChar char="–"/>
            </a:pPr>
            <a:r>
              <a:rPr lang="vi-VN" sz="2400" dirty="0">
                <a:solidFill>
                  <a:schemeClr val="tx1"/>
                </a:solidFill>
                <a:latin typeface="+mj-lt"/>
              </a:rPr>
              <a:t>Thiếu hệ thống gợi ý cá nhân hóa dựa trên dữ liệu</a:t>
            </a:r>
            <a:endParaRPr lang="en-US" sz="2400" dirty="0">
              <a:solidFill>
                <a:schemeClr val="tx1"/>
              </a:solidFill>
              <a:latin typeface="+mj-lt"/>
              <a:ea typeface="Cambria Math" panose="02040503050406030204" pitchFamily="18" charset="0"/>
            </a:endParaRPr>
          </a:p>
        </p:txBody>
      </p:sp>
      <p:sp>
        <p:nvSpPr>
          <p:cNvPr id="11" name="Hình chữ nhật 10">
            <a:extLst>
              <a:ext uri="{FF2B5EF4-FFF2-40B4-BE49-F238E27FC236}">
                <a16:creationId xmlns:a16="http://schemas.microsoft.com/office/drawing/2014/main" id="{35035674-48B3-57B8-DF9A-883EBE9980BB}"/>
              </a:ext>
            </a:extLst>
          </p:cNvPr>
          <p:cNvSpPr/>
          <p:nvPr/>
        </p:nvSpPr>
        <p:spPr>
          <a:xfrm>
            <a:off x="1385177" y="2142625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Vấn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đề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2" name="Mũi tên: Phải 11">
            <a:extLst>
              <a:ext uri="{FF2B5EF4-FFF2-40B4-BE49-F238E27FC236}">
                <a16:creationId xmlns:a16="http://schemas.microsoft.com/office/drawing/2014/main" id="{8B721B9E-E707-09A2-B34E-6923D65F7CFE}"/>
              </a:ext>
            </a:extLst>
          </p:cNvPr>
          <p:cNvSpPr/>
          <p:nvPr/>
        </p:nvSpPr>
        <p:spPr>
          <a:xfrm>
            <a:off x="8484793" y="2979567"/>
            <a:ext cx="914400" cy="533128"/>
          </a:xfrm>
          <a:prstGeom prst="right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D1364C53-F2D3-D233-538C-A051CF28D1CC}"/>
              </a:ext>
            </a:extLst>
          </p:cNvPr>
          <p:cNvSpPr/>
          <p:nvPr/>
        </p:nvSpPr>
        <p:spPr>
          <a:xfrm>
            <a:off x="9629929" y="2769600"/>
            <a:ext cx="6868880" cy="160026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tích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51,633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bản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ghi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mẫu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dẫn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đến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342900" indent="-342900">
              <a:buFont typeface="Times New Roman" panose="02020603050405020304" pitchFamily="18" charset="0"/>
              <a:buChar char="–"/>
            </a:pP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Xây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dựng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hệ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thống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gợi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ý workout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tự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động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Hình chữ nhật 13">
            <a:extLst>
              <a:ext uri="{FF2B5EF4-FFF2-40B4-BE49-F238E27FC236}">
                <a16:creationId xmlns:a16="http://schemas.microsoft.com/office/drawing/2014/main" id="{EBA574EC-D362-5352-6D27-0C62ECD36D47}"/>
              </a:ext>
            </a:extLst>
          </p:cNvPr>
          <p:cNvSpPr/>
          <p:nvPr/>
        </p:nvSpPr>
        <p:spPr>
          <a:xfrm>
            <a:off x="9629929" y="2138942"/>
            <a:ext cx="6868880" cy="6306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Giải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pháp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của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chúng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em</a:t>
            </a:r>
            <a:endParaRPr lang="en-US" sz="28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15" name="Mũi tên: Xuống 14">
            <a:extLst>
              <a:ext uri="{FF2B5EF4-FFF2-40B4-BE49-F238E27FC236}">
                <a16:creationId xmlns:a16="http://schemas.microsoft.com/office/drawing/2014/main" id="{071F98F9-789B-AC29-F68F-56B99405A058}"/>
              </a:ext>
            </a:extLst>
          </p:cNvPr>
          <p:cNvSpPr/>
          <p:nvPr/>
        </p:nvSpPr>
        <p:spPr>
          <a:xfrm rot="3149661">
            <a:off x="9993736" y="5090962"/>
            <a:ext cx="819594" cy="1286406"/>
          </a:xfrm>
          <a:prstGeom prst="downArrow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Hình chữ nhật 15">
            <a:extLst>
              <a:ext uri="{FF2B5EF4-FFF2-40B4-BE49-F238E27FC236}">
                <a16:creationId xmlns:a16="http://schemas.microsoft.com/office/drawing/2014/main" id="{ECA60622-219F-60C8-75F5-F4EC3D7072BC}"/>
              </a:ext>
            </a:extLst>
          </p:cNvPr>
          <p:cNvSpPr/>
          <p:nvPr/>
        </p:nvSpPr>
        <p:spPr>
          <a:xfrm>
            <a:off x="5333999" y="7014639"/>
            <a:ext cx="7113193" cy="96286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Giúp người tập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tối ưu hóa kế hoạch tập luyện</a:t>
            </a:r>
            <a:endParaRPr lang="vi-VN" sz="2400" dirty="0">
              <a:solidFill>
                <a:schemeClr val="tx1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Hình chữ nhật 16">
            <a:extLst>
              <a:ext uri="{FF2B5EF4-FFF2-40B4-BE49-F238E27FC236}">
                <a16:creationId xmlns:a16="http://schemas.microsoft.com/office/drawing/2014/main" id="{853EA7EE-FF70-3F31-6E45-A99FFBC055D7}"/>
              </a:ext>
            </a:extLst>
          </p:cNvPr>
          <p:cNvSpPr/>
          <p:nvPr/>
        </p:nvSpPr>
        <p:spPr>
          <a:xfrm>
            <a:off x="5334000" y="6602230"/>
            <a:ext cx="7113193" cy="5949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Mục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tiêu</a:t>
            </a:r>
            <a:r>
              <a:rPr lang="en-US" sz="28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</a:p>
        </p:txBody>
      </p:sp>
      <p:pic>
        <p:nvPicPr>
          <p:cNvPr id="18" name="Picture 2" descr="Viện Trí tuệ nhân tạo | Hanoi">
            <a:extLst>
              <a:ext uri="{FF2B5EF4-FFF2-40B4-BE49-F238E27FC236}">
                <a16:creationId xmlns:a16="http://schemas.microsoft.com/office/drawing/2014/main" id="{B3537B21-34FE-F25B-2569-FDD3138FF0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19" name="TextBox 5">
            <a:extLst>
              <a:ext uri="{FF2B5EF4-FFF2-40B4-BE49-F238E27FC236}">
                <a16:creationId xmlns:a16="http://schemas.microsoft.com/office/drawing/2014/main" id="{465D384B-7D09-D9B1-00F4-518A25CE1E84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0082AA5E-E162-8972-01AC-1B8560CC9712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A0C6E9AD-E9B9-F2B4-7A0B-9D77591710AF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4FBA3E72-3263-1DF6-5CA8-4D9448D15EEE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795F8F39-2766-7078-CEED-2781ADC0066F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5" name="Group 8">
            <a:extLst>
              <a:ext uri="{FF2B5EF4-FFF2-40B4-BE49-F238E27FC236}">
                <a16:creationId xmlns:a16="http://schemas.microsoft.com/office/drawing/2014/main" id="{E0B5076F-5AAB-CC6E-C501-5C70AA205A11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6" name="Freeform 9">
              <a:extLst>
                <a:ext uri="{FF2B5EF4-FFF2-40B4-BE49-F238E27FC236}">
                  <a16:creationId xmlns:a16="http://schemas.microsoft.com/office/drawing/2014/main" id="{23CCB179-0514-76E7-DB6F-0C6859C0935F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7" name="TextBox 11">
            <a:extLst>
              <a:ext uri="{FF2B5EF4-FFF2-40B4-BE49-F238E27FC236}">
                <a16:creationId xmlns:a16="http://schemas.microsoft.com/office/drawing/2014/main" id="{50D6748A-7076-177C-6F60-659D7AF7D12F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8" name="TextBox 12">
            <a:extLst>
              <a:ext uri="{FF2B5EF4-FFF2-40B4-BE49-F238E27FC236}">
                <a16:creationId xmlns:a16="http://schemas.microsoft.com/office/drawing/2014/main" id="{3CC5D048-2581-CC97-2774-B5400C22B0B5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1610920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92E774-96AD-B474-0086-97B8B7B60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FF373F0F-C325-3923-3573-23F457023A25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C4E7ACE-FCA9-AC3B-4890-6BD9F669E508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49A246EB-2141-11AB-4442-06C5D0789C09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8" name="TextBox 14">
            <a:extLst>
              <a:ext uri="{FF2B5EF4-FFF2-40B4-BE49-F238E27FC236}">
                <a16:creationId xmlns:a16="http://schemas.microsoft.com/office/drawing/2014/main" id="{74F5F08F-7B26-2860-18AB-CAB5331B5F3A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D9F38E6A-2996-031B-ADE7-72B600A5B4F8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0" name="Group 8">
            <a:extLst>
              <a:ext uri="{FF2B5EF4-FFF2-40B4-BE49-F238E27FC236}">
                <a16:creationId xmlns:a16="http://schemas.microsoft.com/office/drawing/2014/main" id="{9023000C-B6A0-07EC-6487-6E07AF624002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73B5B4AA-800F-152D-B82E-4B7A0C3A19DD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ABBDAB45-4709-C133-33F9-49BCB6087738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16AFFF04-2901-A339-1FF3-884BCBEB83D2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sp>
        <p:nvSpPr>
          <p:cNvPr id="15" name="Freeform 3">
            <a:extLst>
              <a:ext uri="{FF2B5EF4-FFF2-40B4-BE49-F238E27FC236}">
                <a16:creationId xmlns:a16="http://schemas.microsoft.com/office/drawing/2014/main" id="{399E1A12-7C37-D8A9-9342-BCF5C52C6E21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438C0D60-B867-7CA7-C175-BE0E5E8A5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55F22D96-DFAF-1F1D-8F97-C1ACFA812E94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02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7E0D417A-64CE-F206-A3E7-9B7CB25926BE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6A580EF7-6007-9213-360C-C8314D09C1A3}"/>
              </a:ext>
            </a:extLst>
          </p:cNvPr>
          <p:cNvSpPr txBox="1"/>
          <p:nvPr/>
        </p:nvSpPr>
        <p:spPr>
          <a:xfrm>
            <a:off x="4495800" y="5829300"/>
            <a:ext cx="10134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DỮ LIỆU &amp; XỬ LÝ</a:t>
            </a:r>
          </a:p>
        </p:txBody>
      </p:sp>
    </p:spTree>
    <p:extLst>
      <p:ext uri="{BB962C8B-B14F-4D97-AF65-F5344CB8AC3E}">
        <p14:creationId xmlns:p14="http://schemas.microsoft.com/office/powerpoint/2010/main" val="23611848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/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3604BBDD-9A11-D7A5-F6A5-4DCA57DFA7C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98F7001-2CB6-833F-D394-8C2C46858432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Nguồn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32FB2FD2-7383-F5FF-CF3D-2CED4C83D346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27" name="TextBox 12">
            <a:extLst>
              <a:ext uri="{FF2B5EF4-FFF2-40B4-BE49-F238E27FC236}">
                <a16:creationId xmlns:a16="http://schemas.microsoft.com/office/drawing/2014/main" id="{8F2E81F7-CDD4-FCD0-DDC5-91F203DD2ABD}"/>
              </a:ext>
            </a:extLst>
          </p:cNvPr>
          <p:cNvSpPr txBox="1"/>
          <p:nvPr/>
        </p:nvSpPr>
        <p:spPr>
          <a:xfrm>
            <a:off x="847700" y="1456563"/>
            <a:ext cx="14435319" cy="1723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Nguồn dữ liệu (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1: Thông tin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gym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members</a:t>
            </a:r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973 người dùng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Thuộc tính: Tuổi, giới tính, cân nặng, chiều cao, BMI, % mỡ, loại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tần suất, thời lượng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Hình ảnh 8" descr="Ảnh có chứa văn bản, ảnh chụp màn hình, màu đen, Phông chữ&#10;&#10;Nội dung do AI tạo ra có thể không chính xác.">
            <a:extLst>
              <a:ext uri="{FF2B5EF4-FFF2-40B4-BE49-F238E27FC236}">
                <a16:creationId xmlns:a16="http://schemas.microsoft.com/office/drawing/2014/main" id="{3901CA07-7451-F611-DA45-E8FBB596F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555" y="3293380"/>
            <a:ext cx="16969244" cy="2125944"/>
          </a:xfrm>
          <a:prstGeom prst="rect">
            <a:avLst/>
          </a:prstGeom>
        </p:spPr>
      </p:pic>
      <p:sp>
        <p:nvSpPr>
          <p:cNvPr id="11" name="Hộp Văn bản 10">
            <a:extLst>
              <a:ext uri="{FF2B5EF4-FFF2-40B4-BE49-F238E27FC236}">
                <a16:creationId xmlns:a16="http://schemas.microsoft.com/office/drawing/2014/main" id="{72DC2967-EE0C-29B8-0BF5-9790E54A83D5}"/>
              </a:ext>
            </a:extLst>
          </p:cNvPr>
          <p:cNvSpPr txBox="1"/>
          <p:nvPr/>
        </p:nvSpPr>
        <p:spPr>
          <a:xfrm>
            <a:off x="847700" y="559236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Bộ dữ liệu 2: Thư viện bài tập </a:t>
            </a:r>
            <a:endParaRPr 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2,918 bài tập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Strength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Cardio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HIIT,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Yoga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Cấp độ: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Beginner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Intermediate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vi-VN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Expert</a:t>
            </a:r>
            <a:r>
              <a:rPr lang="vi-V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Hình ảnh 12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4614C89A-43EF-A1B5-2A6A-51750ED11C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1555" y="7387178"/>
            <a:ext cx="15594279" cy="2232490"/>
          </a:xfrm>
          <a:prstGeom prst="rect">
            <a:avLst/>
          </a:prstGeom>
        </p:spPr>
      </p:pic>
      <p:sp>
        <p:nvSpPr>
          <p:cNvPr id="14" name="TextBox 5">
            <a:extLst>
              <a:ext uri="{FF2B5EF4-FFF2-40B4-BE49-F238E27FC236}">
                <a16:creationId xmlns:a16="http://schemas.microsoft.com/office/drawing/2014/main" id="{F98F5174-07C2-C87A-ED94-D71CA0531268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068B88A1-3727-8C6B-6BBD-5A9D86460159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41E01A07-824E-9708-BB27-644B666DBB5E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8B1CA378-2399-5AE1-6E73-52CA97DED2C8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7959104-273C-B4E2-BE6F-0D179CACCEA5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0173632C-A8BE-CE48-EF4A-DB3E1B51A88E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D324AC41-EB88-4DAE-53AC-AE166329074B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E32C8221-28AC-F29C-B0A9-26106D0C408F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26946B5E-54C7-E862-2B9F-C63C80D42B8E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5576392C-45FB-1B7E-0AF9-A96AB36A6FA1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35ADC2AF-65F2-A1DF-06E1-A3F754E1300E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0F39E167-1C87-7754-7698-AF7F5A3668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8"/>
            <a:stretch>
              <a:fillRect/>
            </a:stretch>
          </a:blipFill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21DDD-B240-60B1-8F0E-04D8B9601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C6F5693-D3BB-4BB8-9441-F8551F6C4613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E055276E-FE3A-7308-8A14-E468CC465825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E132D063-E8EA-5EC9-3AAA-F382D4A393A1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8638F5C0-F092-35B3-DD35-2E64744FDDC4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1462123D-E0E3-EC8F-BD95-4B22AEA09D15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Xử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lý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dữ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liệu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4A4BCDAF-A50D-CBDE-D224-5188EB568A93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9C7A55D9-749F-1F94-A164-145810F93F7D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890F5DA1-2AAE-8389-8B92-223A16E4731D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3980D6C1-1196-56E2-E344-2C698107DA15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1D42306C-576A-1316-552E-FD2E42FC5784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404BBA01-0B20-9E8E-5B87-F12CB118E12C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B90EC6A5-AF2D-B45E-6EE4-BD03EFFB8B38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B8E3F119-F80B-9330-374B-75A000032256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595B10C7-ED39-3FF4-EF93-57EDE673779A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36E560BC-922C-3D90-8EC9-12F22DD3A03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31CD8F9D-16F0-C4FD-A3BB-707900B87ACE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B855339B-8837-745F-C350-1A4704180223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670ACA3-584D-FFDB-7A8B-2F75577666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14CCF8A8-84F6-DE18-3E11-DC1896AF252E}"/>
              </a:ext>
            </a:extLst>
          </p:cNvPr>
          <p:cNvSpPr txBox="1"/>
          <p:nvPr/>
        </p:nvSpPr>
        <p:spPr>
          <a:xfrm>
            <a:off x="838200" y="1502903"/>
            <a:ext cx="10993874" cy="78483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gộp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dữ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bằng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logic,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1:</a:t>
            </a: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Weight (Dataset 1) + Height (Dataset 1)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800" dirty="0">
                <a:solidFill>
                  <a:srgbClr val="383A42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→ BMI = Weight / (Height²) → BMI (Dataset 3)</a:t>
            </a:r>
          </a:p>
          <a:p>
            <a:pPr lvl="1"/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Workout_Type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Exercise_Name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wants "Strength" → Pick from Strength exercises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Recommended_Exercise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pPr lvl="1"/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Ví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3:</a:t>
            </a:r>
          </a:p>
          <a:p>
            <a:pPr lvl="1"/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Experience_Level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1) + Level (Dataset 2)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Match: User level = "Beginner" → Pick Beginner exercises only</a:t>
            </a:r>
          </a:p>
          <a:p>
            <a:pPr lvl="1"/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Suitable_Exercise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(Dataset 3)</a:t>
            </a:r>
          </a:p>
          <a:p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=&gt;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973 users (Dataset 1) + 2,918 exercises (Dataset 2) → 51,633 records (Dataset 3), Trong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cột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nhãn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Success (0/1)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đánh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giá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815058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4FEF9-347C-D2C9-3913-66A88A856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B2463D28-B618-9BD1-9E01-7B46C01F8CB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D909DBC1-7229-5ABC-1930-4CBDB8970257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E6F89670-B91F-BEB8-68CD-AC788BB62900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8" name="TextBox 14">
            <a:extLst>
              <a:ext uri="{FF2B5EF4-FFF2-40B4-BE49-F238E27FC236}">
                <a16:creationId xmlns:a16="http://schemas.microsoft.com/office/drawing/2014/main" id="{F2DE5FB6-B5E6-4EC4-8EA5-B64F1A7628C1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EDCE024E-9605-DA0E-D209-E96E23C2AD07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0" name="Group 8">
            <a:extLst>
              <a:ext uri="{FF2B5EF4-FFF2-40B4-BE49-F238E27FC236}">
                <a16:creationId xmlns:a16="http://schemas.microsoft.com/office/drawing/2014/main" id="{77A907BF-7B8E-3A80-2455-7B0D5B3A59BF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8115B2F6-5956-E523-0BD9-FB20E6B3D4B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B7129E89-7C91-15EE-85E9-418C9A52A50F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A2C3931F-9C23-AC07-9EC7-7127A269D741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sp>
        <p:nvSpPr>
          <p:cNvPr id="15" name="Freeform 3">
            <a:extLst>
              <a:ext uri="{FF2B5EF4-FFF2-40B4-BE49-F238E27FC236}">
                <a16:creationId xmlns:a16="http://schemas.microsoft.com/office/drawing/2014/main" id="{FA126ECA-06A5-56BB-8868-B925F152470E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C4DC43C6-6B83-EA61-C58D-D58CDC8F27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0B06EC37-AD2B-530C-5F84-05788B9908A5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03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475120CE-008D-060B-33FE-304C466FC4E7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EE90702B-3B39-33E3-244E-53BA759B4A5C}"/>
              </a:ext>
            </a:extLst>
          </p:cNvPr>
          <p:cNvSpPr txBox="1"/>
          <p:nvPr/>
        </p:nvSpPr>
        <p:spPr>
          <a:xfrm>
            <a:off x="2075004" y="5829300"/>
            <a:ext cx="1584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KỸ THUẬT &amp; THUẬT TOÁN</a:t>
            </a:r>
          </a:p>
        </p:txBody>
      </p:sp>
    </p:spTree>
    <p:extLst>
      <p:ext uri="{BB962C8B-B14F-4D97-AF65-F5344CB8AC3E}">
        <p14:creationId xmlns:p14="http://schemas.microsoft.com/office/powerpoint/2010/main" val="13946503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338992-432D-5686-0AF5-999C5A6DB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E256A7B-0973-DD29-CBFF-F93203170354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81A3D4ED-630E-1834-222A-AB6FBCB4580F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75E5654-D247-B571-F4DE-A01DD92A28B8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0FA00C5A-EC2A-8B10-38B1-843B36AF47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00A8588-067D-9207-DB65-FEB00280256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hợp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Aprori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80748722-11D8-DD55-647A-6BEDCDE5398C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9D78EA27-CADB-C2B9-E28E-0E08DFEE602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9AB83E91-717C-8139-31C9-A27195C7DCCC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7A03828E-51DB-D395-A23B-300E74BDBE0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A338536C-FA31-E8D8-C41E-ABAA4F0876C2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AA551453-F38A-DE5B-0CF8-C9DE625E2BCC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BCB49C77-A7F3-0F6A-C07B-FCAA5E947F74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20A0303C-B74E-5F18-3065-6603580F51B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61E0144E-BA8E-0324-EC75-380E42667648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A53670EB-4F9C-890D-1D56-E7C07555DBD0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12F48392-9EB8-B8C9-3242-BF47B5D5E683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9864EF89-2DAF-F735-BA91-BF42878C4F80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3F55A9BA-EA71-EA06-39C0-948F45D371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7BD2B4CB-2020-29E2-6840-02BC69B9DD45}"/>
              </a:ext>
            </a:extLst>
          </p:cNvPr>
          <p:cNvSpPr txBox="1"/>
          <p:nvPr/>
        </p:nvSpPr>
        <p:spPr>
          <a:xfrm>
            <a:off x="5704122" y="6730021"/>
            <a:ext cx="914400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Symbol" panose="05050102010706020507" pitchFamily="18" charset="2"/>
              <a:buChar char="Þ"/>
            </a:pP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Phát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hiện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nhât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Protein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cực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kì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tăng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cơ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742950" lvl="1" indent="-285750">
              <a:buFontTx/>
              <a:buChar char="-"/>
            </a:pP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buổi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sáng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độ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Hình chữ nhật 12">
            <a:extLst>
              <a:ext uri="{FF2B5EF4-FFF2-40B4-BE49-F238E27FC236}">
                <a16:creationId xmlns:a16="http://schemas.microsoft.com/office/drawing/2014/main" id="{8A7BC15D-E844-492A-8A70-81F7B9038C2E}"/>
              </a:ext>
            </a:extLst>
          </p:cNvPr>
          <p:cNvSpPr/>
          <p:nvPr/>
        </p:nvSpPr>
        <p:spPr>
          <a:xfrm>
            <a:off x="139903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support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0.01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confidence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0.7</a:t>
            </a:r>
          </a:p>
          <a:p>
            <a:pPr marL="742950" lvl="1" indent="-285750">
              <a:buFont typeface="Times New Roman" panose="02020603050405020304" pitchFamily="18" charset="0"/>
              <a:buChar char="–"/>
            </a:pP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 lift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1.2</a:t>
            </a:r>
          </a:p>
          <a:p>
            <a:pPr marL="285750" indent="-285750">
              <a:buFont typeface="Symbol" panose="05050102010706020507" pitchFamily="18" charset="2"/>
              <a:buChar char="Þ"/>
            </a:pP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Tìm được 140 luật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6" name="Hình chữ nhật 25">
            <a:extLst>
              <a:ext uri="{FF2B5EF4-FFF2-40B4-BE49-F238E27FC236}">
                <a16:creationId xmlns:a16="http://schemas.microsoft.com/office/drawing/2014/main" id="{979E93C8-925B-61A7-9B21-59A7A8E13527}"/>
              </a:ext>
            </a:extLst>
          </p:cNvPr>
          <p:cNvSpPr/>
          <p:nvPr/>
        </p:nvSpPr>
        <p:spPr>
          <a:xfrm>
            <a:off x="1399032" y="2029046"/>
            <a:ext cx="6868880" cy="98085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Apriori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với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tham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số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Hình chữ nhật 33">
            <a:extLst>
              <a:ext uri="{FF2B5EF4-FFF2-40B4-BE49-F238E27FC236}">
                <a16:creationId xmlns:a16="http://schemas.microsoft.com/office/drawing/2014/main" id="{807DF55C-BAA5-E4F1-3221-EF583DB70D03}"/>
              </a:ext>
            </a:extLst>
          </p:cNvPr>
          <p:cNvSpPr/>
          <p:nvPr/>
        </p:nvSpPr>
        <p:spPr>
          <a:xfrm>
            <a:off x="10276122" y="2503560"/>
            <a:ext cx="6868880" cy="341462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1: 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Tần_suất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=4-5 VÀ Protein=Cao</a:t>
            </a:r>
          </a:p>
          <a:p>
            <a:pPr lvl="1"/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trợ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0.18 | Tin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cậy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100% | </a:t>
            </a:r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Nâng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1.79</a:t>
            </a:r>
          </a:p>
          <a:p>
            <a:r>
              <a:rPr lang="en-US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2: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NẾU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Mục_tiêu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Tăng_Cơ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VÀ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Workout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=Tạ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THÌ </a:t>
            </a:r>
            <a:r>
              <a:rPr lang="vi-VN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Thành_công</a:t>
            </a:r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=1</a:t>
            </a:r>
          </a:p>
          <a:p>
            <a:pPr lvl="1"/>
            <a:r>
              <a:rPr lang="vi-VN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Hỗ trợ: 0.12 | Tin cậy: 95% | Nâng: 1.71</a:t>
            </a:r>
            <a:endParaRPr lang="en-US" sz="2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Hình chữ nhật 34">
            <a:extLst>
              <a:ext uri="{FF2B5EF4-FFF2-40B4-BE49-F238E27FC236}">
                <a16:creationId xmlns:a16="http://schemas.microsoft.com/office/drawing/2014/main" id="{714FBFC3-637B-05D7-B82B-677C53021ED4}"/>
              </a:ext>
            </a:extLst>
          </p:cNvPr>
          <p:cNvSpPr/>
          <p:nvPr/>
        </p:nvSpPr>
        <p:spPr>
          <a:xfrm>
            <a:off x="10276122" y="2029047"/>
            <a:ext cx="6868880" cy="6096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Các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luật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8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b="1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endParaRPr lang="en-US" sz="28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82710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908233-EC32-3EED-E8F7-3642D421F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45C15690-F94C-A945-8308-1514D32E4662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712452A1-2889-0083-8721-8D6A873BBE7E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A0C9FA-A703-6E81-9555-9C387119920E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5E9F8255-E68B-D5B1-2207-D907043B7D67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7FCEE883-1DAB-C387-A942-F85E04B08E94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loại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Random forest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B0593247-3975-9CFE-A098-A9FE013DDF01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47F35F97-B587-FFEF-1840-07502F1D3C13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82B608F9-FB2E-B419-2A72-C79BA780CED0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B3E658BC-6BB1-820D-5A18-E6BBD30B894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B2F0DE6B-7592-FA10-802B-D115573E3D49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8BA90B78-5EA1-127D-127F-E7AEA06CBFE5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5483DBFF-3FC5-6A14-BD5C-6E5D302F207D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852149BB-91AD-0387-FA22-ADCA20807939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008C78E4-530B-238D-E4AE-E18686641AFC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B45F59DD-54CB-7A21-8C0F-09AF4D999619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684D09BF-FB42-C1A1-3B38-75B7D1EFAB02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746BDD2B-302B-4CCA-6C66-A96560DA1A07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798A3357-0A30-1830-B6DC-A82E14E0D0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BEDEBC4-D21B-804A-6296-5A7F6E621B43}"/>
              </a:ext>
            </a:extLst>
          </p:cNvPr>
          <p:cNvSpPr txBox="1"/>
          <p:nvPr/>
        </p:nvSpPr>
        <p:spPr>
          <a:xfrm>
            <a:off x="643846" y="1562100"/>
            <a:ext cx="16736681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sử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dụng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thuật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Random Forest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để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huấn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luyện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hình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dự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đoán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xem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hoạch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workout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của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người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dùng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hay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không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File dataset 3</a:t>
            </a:r>
          </a:p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Hình ảnh 4" descr="Ảnh có chứa văn bản, ảnh chụp màn hình, biểu đồ, Sơ đồ&#10;&#10;Nội dung do AI tạo ra có thể không chính xác.">
            <a:extLst>
              <a:ext uri="{FF2B5EF4-FFF2-40B4-BE49-F238E27FC236}">
                <a16:creationId xmlns:a16="http://schemas.microsoft.com/office/drawing/2014/main" id="{3F7CF4AB-AE06-CF0E-E9DF-31D45AD8E4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9456" y="4006806"/>
            <a:ext cx="7681913" cy="4582739"/>
          </a:xfrm>
          <a:prstGeom prst="rect">
            <a:avLst/>
          </a:prstGeom>
        </p:spPr>
      </p:pic>
      <p:pic>
        <p:nvPicPr>
          <p:cNvPr id="9" name="Hình ảnh 8" descr="Ảnh có chứa văn bản, ảnh chụp màn hình, Phông chữ&#10;&#10;Nội dung do AI tạo ra có thể không chính xác.">
            <a:extLst>
              <a:ext uri="{FF2B5EF4-FFF2-40B4-BE49-F238E27FC236}">
                <a16:creationId xmlns:a16="http://schemas.microsoft.com/office/drawing/2014/main" id="{EB0277A0-B408-7742-1CE6-D3ADDF4BFBF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0486" y="4006806"/>
            <a:ext cx="6994615" cy="4170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4886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1CB93-CEA6-4772-EF5C-8B4E6708B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1E73F449-4368-22DB-F73C-B5F12E46DF2B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02908CE-9058-A596-9A4F-60CE01310B3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D6AA0A6-0702-C5A2-DFB9-99CB33644095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9549E001-348E-BB37-F91D-6F5D3A69D166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98401C69-F12F-9AE5-3E1E-9B7D6995F638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Phân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cụm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– K-Means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DC89A6C2-1B1D-5166-8713-449B7C3CFB0F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03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7CEFBDB5-F83D-1ACA-1364-441AEAB53131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8568F1BF-7330-CAA9-0614-F4651178D70A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E07F6A4F-DD45-B586-BABE-F2952B3B1D36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C80B084C-0676-EA7C-9F09-4CDD3080FC15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96994C4-CFF2-7F26-A4E8-50B8FA56AC76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57B8FB76-7495-D839-B0BA-271779028012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D102EC42-35CC-F63D-8D2D-0DA2044BD70F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DF5F524D-ACD4-37EB-A425-99BCD881FEDE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9309F132-AAD2-7368-FF11-420DDB6098A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8BAB7AFD-F14C-3B4C-E2AE-613B6919928D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8C3077F1-988D-0E9F-160E-F834EB2E4F0F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5D1043C3-1B9E-EAD8-522B-D790BD8D36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D3F5960A-E52D-EE31-A691-B0D99688D00F}"/>
              </a:ext>
            </a:extLst>
          </p:cNvPr>
          <p:cNvSpPr txBox="1"/>
          <p:nvPr/>
        </p:nvSpPr>
        <p:spPr>
          <a:xfrm>
            <a:off x="636919" y="1638300"/>
            <a:ext cx="101695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2400" dirty="0">
                <a:latin typeface="+mj-lt"/>
              </a:rPr>
              <a:t>Mục tiêu: Phân nhóm người tập </a:t>
            </a:r>
            <a:r>
              <a:rPr lang="vi-VN" sz="2400" dirty="0" err="1">
                <a:latin typeface="+mj-lt"/>
              </a:rPr>
              <a:t>gym</a:t>
            </a:r>
            <a:r>
              <a:rPr lang="vi-VN" sz="2400" dirty="0">
                <a:latin typeface="+mj-lt"/>
              </a:rPr>
              <a:t> thành các nhóm có đặc điểm tương đồng</a:t>
            </a:r>
            <a:endParaRPr lang="en-US" sz="2400" dirty="0">
              <a:latin typeface="+mj-lt"/>
            </a:endParaRPr>
          </a:p>
        </p:txBody>
      </p:sp>
      <p:sp>
        <p:nvSpPr>
          <p:cNvPr id="9" name="Hộp Văn bản 8">
            <a:extLst>
              <a:ext uri="{FF2B5EF4-FFF2-40B4-BE49-F238E27FC236}">
                <a16:creationId xmlns:a16="http://schemas.microsoft.com/office/drawing/2014/main" id="{E7D3E326-68E0-894B-DEBD-722DC8110A19}"/>
              </a:ext>
            </a:extLst>
          </p:cNvPr>
          <p:cNvSpPr txBox="1"/>
          <p:nvPr/>
        </p:nvSpPr>
        <p:spPr>
          <a:xfrm>
            <a:off x="636919" y="2178463"/>
            <a:ext cx="1274100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Kết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quả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cụm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(K=4):</a:t>
            </a:r>
          </a:p>
          <a:p>
            <a:endParaRPr lang="en-US" dirty="0"/>
          </a:p>
        </p:txBody>
      </p:sp>
      <p:graphicFrame>
        <p:nvGraphicFramePr>
          <p:cNvPr id="10" name="Bảng 9">
            <a:extLst>
              <a:ext uri="{FF2B5EF4-FFF2-40B4-BE49-F238E27FC236}">
                <a16:creationId xmlns:a16="http://schemas.microsoft.com/office/drawing/2014/main" id="{F466E67A-0378-AD1A-2B85-81A210916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9361631"/>
              </p:ext>
            </p:extLst>
          </p:nvPr>
        </p:nvGraphicFramePr>
        <p:xfrm>
          <a:off x="636919" y="2945702"/>
          <a:ext cx="8153400" cy="6583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153400">
                  <a:extLst>
                    <a:ext uri="{9D8B030D-6E8A-4147-A177-3AD203B41FA5}">
                      <a16:colId xmlns:a16="http://schemas.microsoft.com/office/drawing/2014/main" val="17857525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0: Người thừa cân, độ tuổi trung niên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172 users | Success Rate: 50%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(34.3),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(25.2%)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2426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1: Người trẻ, cơ thể chuẩn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273 users | Success Rate: 25%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(22.6),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(28.6%)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(2.8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7395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vi-VN" sz="2400" b="1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</a:t>
                      </a:r>
                      <a:r>
                        <a:rPr lang="vi-VN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2: Người lớn tuổi, cơ thể khỏe mạnh </a:t>
                      </a:r>
                      <a:endParaRPr 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334 users | Success Rate: 38%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Tuổi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(48.6), 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tốt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(22.1)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trung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bình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(3.2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39728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Cluster 3: NHÓM THÀNH CÔNG NHẤT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194 users | Success Rate: 97%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BMI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cân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đối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(24.7), Fat%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thấp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(14.9%)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suất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tập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cao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nhất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(4.5 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ngày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/</a:t>
                      </a:r>
                      <a:r>
                        <a:rPr lang="en-US" sz="24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tuần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 </a:t>
                      </a:r>
                    </a:p>
                    <a:p>
                      <a:pPr marL="285750" indent="-285750">
                        <a:buFontTx/>
                        <a:buChar char="-"/>
                      </a:pPr>
                      <a:r>
                        <a:rPr lang="vi-VN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Thời lượng tập cao nhất (26.4 phút) 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4707682"/>
                  </a:ext>
                </a:extLst>
              </a:tr>
            </a:tbl>
          </a:graphicData>
        </a:graphic>
      </p:graphicFrame>
      <p:sp>
        <p:nvSpPr>
          <p:cNvPr id="12" name="Hộp Văn bản 11">
            <a:extLst>
              <a:ext uri="{FF2B5EF4-FFF2-40B4-BE49-F238E27FC236}">
                <a16:creationId xmlns:a16="http://schemas.microsoft.com/office/drawing/2014/main" id="{87F14E86-B3CD-63E6-501D-6D8033E95C63}"/>
              </a:ext>
            </a:extLst>
          </p:cNvPr>
          <p:cNvSpPr txBox="1"/>
          <p:nvPr/>
        </p:nvSpPr>
        <p:spPr>
          <a:xfrm>
            <a:off x="9982200" y="4634374"/>
            <a:ext cx="9144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⇒ Insight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quan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trọng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yếu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tố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phân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biệt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lớn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>
              <a:buFontTx/>
              <a:buChar char="-"/>
            </a:pP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Nhóm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tập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≥4.5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ngày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tuần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có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tỷ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lệ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thành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97% </a:t>
            </a:r>
          </a:p>
          <a:p>
            <a:pPr marL="285750" indent="-285750">
              <a:buFontTx/>
              <a:buChar char="-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Fat%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thấp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Tần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suất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Thành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công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cao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82708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1FA768-373C-68F6-22B9-E950EAD2F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>
            <a:extLst>
              <a:ext uri="{FF2B5EF4-FFF2-40B4-BE49-F238E27FC236}">
                <a16:creationId xmlns:a16="http://schemas.microsoft.com/office/drawing/2014/main" id="{62D6AF37-CBCC-F3DF-093A-DD5D04EE76BF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69958276-5918-1865-DE4E-50BF3FEE43E7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342A5944-627F-B508-1E3B-B5027A5B70F7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8" name="TextBox 14">
            <a:extLst>
              <a:ext uri="{FF2B5EF4-FFF2-40B4-BE49-F238E27FC236}">
                <a16:creationId xmlns:a16="http://schemas.microsoft.com/office/drawing/2014/main" id="{1BD61EBB-611C-542E-054C-CCA5091373ED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5C7BC997-6684-2219-9180-8CAD86AD45C7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0" name="Group 8">
            <a:extLst>
              <a:ext uri="{FF2B5EF4-FFF2-40B4-BE49-F238E27FC236}">
                <a16:creationId xmlns:a16="http://schemas.microsoft.com/office/drawing/2014/main" id="{EAFA514F-C93B-5DF8-9103-1783B40B8AAF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D6F8EE9F-9AED-4F8F-4E16-0E2F0A04029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3" name="TextBox 11">
            <a:extLst>
              <a:ext uri="{FF2B5EF4-FFF2-40B4-BE49-F238E27FC236}">
                <a16:creationId xmlns:a16="http://schemas.microsoft.com/office/drawing/2014/main" id="{03A62C19-AB32-8D73-5021-5AC550BA1688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873F8186-C7AC-2CCA-91DA-3087212097E4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sp>
        <p:nvSpPr>
          <p:cNvPr id="15" name="Freeform 3">
            <a:extLst>
              <a:ext uri="{FF2B5EF4-FFF2-40B4-BE49-F238E27FC236}">
                <a16:creationId xmlns:a16="http://schemas.microsoft.com/office/drawing/2014/main" id="{5F75AE0E-EB81-E563-3DFB-7A3CD223BC77}"/>
              </a:ext>
            </a:extLst>
          </p:cNvPr>
          <p:cNvSpPr/>
          <p:nvPr/>
        </p:nvSpPr>
        <p:spPr>
          <a:xfrm>
            <a:off x="15801016" y="233356"/>
            <a:ext cx="973466" cy="973466"/>
          </a:xfrm>
          <a:custGeom>
            <a:avLst/>
            <a:gdLst/>
            <a:ahLst/>
            <a:cxnLst/>
            <a:rect l="l" t="t" r="r" b="b"/>
            <a:pathLst>
              <a:path w="973466" h="973466">
                <a:moveTo>
                  <a:pt x="0" y="0"/>
                </a:moveTo>
                <a:lnTo>
                  <a:pt x="973466" y="0"/>
                </a:lnTo>
                <a:lnTo>
                  <a:pt x="973466" y="973466"/>
                </a:lnTo>
                <a:lnTo>
                  <a:pt x="0" y="9734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pic>
        <p:nvPicPr>
          <p:cNvPr id="16" name="Picture 2" descr="Viện Trí tuệ nhân tạo | Hanoi">
            <a:extLst>
              <a:ext uri="{FF2B5EF4-FFF2-40B4-BE49-F238E27FC236}">
                <a16:creationId xmlns:a16="http://schemas.microsoft.com/office/drawing/2014/main" id="{ABD5D1C6-AFED-F8E5-5F7D-7CDBE23C61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  <p:sp>
        <p:nvSpPr>
          <p:cNvPr id="3" name="Hộp Văn bản 2">
            <a:extLst>
              <a:ext uri="{FF2B5EF4-FFF2-40B4-BE49-F238E27FC236}">
                <a16:creationId xmlns:a16="http://schemas.microsoft.com/office/drawing/2014/main" id="{44EE30EF-8262-BDEE-6D8B-9E80A24B69EB}"/>
              </a:ext>
            </a:extLst>
          </p:cNvPr>
          <p:cNvSpPr txBox="1"/>
          <p:nvPr/>
        </p:nvSpPr>
        <p:spPr>
          <a:xfrm>
            <a:off x="7382904" y="2287339"/>
            <a:ext cx="342900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20000" b="1" dirty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04</a:t>
            </a:r>
            <a:r>
              <a:rPr lang="en-US" altLang="en-US" sz="20000" b="1" dirty="0">
                <a:solidFill>
                  <a:srgbClr val="0070C0"/>
                </a:solidFill>
                <a:latin typeface="Cambria Bold" panose="02040803050406030204" pitchFamily="18" charset="0"/>
                <a:ea typeface="Tahoma" panose="020B0604030504040204" pitchFamily="34" charset="0"/>
                <a:cs typeface="Arial" panose="020B0604020202020204" pitchFamily="34" charset="0"/>
              </a:rPr>
              <a:t> </a:t>
            </a:r>
            <a:endParaRPr lang="en-US" sz="20000" dirty="0">
              <a:solidFill>
                <a:srgbClr val="0070C0"/>
              </a:solidFill>
              <a:latin typeface="Cambria Bold" panose="02040803050406030204" pitchFamily="18" charset="0"/>
            </a:endParaRPr>
          </a:p>
        </p:txBody>
      </p:sp>
      <p:sp>
        <p:nvSpPr>
          <p:cNvPr id="4" name="Google Shape;1228;p70">
            <a:extLst>
              <a:ext uri="{FF2B5EF4-FFF2-40B4-BE49-F238E27FC236}">
                <a16:creationId xmlns:a16="http://schemas.microsoft.com/office/drawing/2014/main" id="{5B3B5810-604E-E94C-381E-4F1C570D3CB3}"/>
              </a:ext>
            </a:extLst>
          </p:cNvPr>
          <p:cNvSpPr/>
          <p:nvPr/>
        </p:nvSpPr>
        <p:spPr>
          <a:xfrm>
            <a:off x="6697607" y="5143499"/>
            <a:ext cx="4618200" cy="720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txBody>
          <a:bodyPr spcFirstLastPara="1" wrap="square" lIns="182850" tIns="182850" rIns="182850" bIns="182850" anchor="ctr" anchorCtr="0">
            <a:noAutofit/>
          </a:bodyPr>
          <a:lstStyle/>
          <a:p>
            <a:endParaRPr sz="3600"/>
          </a:p>
        </p:txBody>
      </p:sp>
      <p:sp>
        <p:nvSpPr>
          <p:cNvPr id="18" name="Hộp Văn bản 17">
            <a:extLst>
              <a:ext uri="{FF2B5EF4-FFF2-40B4-BE49-F238E27FC236}">
                <a16:creationId xmlns:a16="http://schemas.microsoft.com/office/drawing/2014/main" id="{05C3D4C6-9E55-A95B-3FCE-F7EF9C8FD49F}"/>
              </a:ext>
            </a:extLst>
          </p:cNvPr>
          <p:cNvSpPr txBox="1"/>
          <p:nvPr/>
        </p:nvSpPr>
        <p:spPr>
          <a:xfrm>
            <a:off x="2887104" y="5905500"/>
            <a:ext cx="158496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ỨNG DỤNG &amp; KẾT QUẢ</a:t>
            </a:r>
          </a:p>
        </p:txBody>
      </p:sp>
    </p:spTree>
    <p:extLst>
      <p:ext uri="{BB962C8B-B14F-4D97-AF65-F5344CB8AC3E}">
        <p14:creationId xmlns:p14="http://schemas.microsoft.com/office/powerpoint/2010/main" val="36718783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696B-0E28-967C-1FB1-E5F0EC7DB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4">
            <a:extLst>
              <a:ext uri="{FF2B5EF4-FFF2-40B4-BE49-F238E27FC236}">
                <a16:creationId xmlns:a16="http://schemas.microsoft.com/office/drawing/2014/main" id="{80D66A45-F111-A359-5E5E-93FFA0FEA2EB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F628F463-AA81-7DE6-86C3-27AA74C340AD}"/>
              </a:ext>
            </a:extLst>
          </p:cNvPr>
          <p:cNvSpPr/>
          <p:nvPr/>
        </p:nvSpPr>
        <p:spPr>
          <a:xfrm>
            <a:off x="3619500" y="2374385"/>
            <a:ext cx="11049000" cy="48768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4,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Ứng</a:t>
            </a:r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dụng</a:t>
            </a:r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 &amp;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kết</a:t>
            </a:r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quả</a:t>
            </a:r>
            <a:endParaRPr lang="en-US" sz="60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988D41D5-E782-04A7-C4B3-15FBA45131CF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CBEB347B-8B6D-15A8-F2CD-DF0D750E3110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0C922FC4-4319-A269-6461-E54F2D971049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38D96BBB-69C5-049C-8BCA-C1091A4DBEA7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E5061B37-A550-65D2-2462-37125871AFF7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6304453A-84C0-F9CB-189A-98633BE68B80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66F2878C-FA7E-B1CD-D1F3-C84E281508D7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5" name="Group 8">
            <a:extLst>
              <a:ext uri="{FF2B5EF4-FFF2-40B4-BE49-F238E27FC236}">
                <a16:creationId xmlns:a16="http://schemas.microsoft.com/office/drawing/2014/main" id="{7286030F-C104-C8FA-F42A-306953D53AC1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5A3ADA40-9A8E-B3C4-6895-ED939EC426FD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7" name="TextBox 11">
            <a:extLst>
              <a:ext uri="{FF2B5EF4-FFF2-40B4-BE49-F238E27FC236}">
                <a16:creationId xmlns:a16="http://schemas.microsoft.com/office/drawing/2014/main" id="{D915F0D5-2B9C-41C8-8681-6DAC16BB6ACE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8" name="TextBox 12">
            <a:extLst>
              <a:ext uri="{FF2B5EF4-FFF2-40B4-BE49-F238E27FC236}">
                <a16:creationId xmlns:a16="http://schemas.microsoft.com/office/drawing/2014/main" id="{3E1338BF-742D-192E-E62A-3A5B17F83D5D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19" name="Picture 2" descr="Viện Trí tuệ nhân tạo | Hanoi">
            <a:extLst>
              <a:ext uri="{FF2B5EF4-FFF2-40B4-BE49-F238E27FC236}">
                <a16:creationId xmlns:a16="http://schemas.microsoft.com/office/drawing/2014/main" id="{C28AB88B-AB34-5613-675B-60E817746E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12235007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84673-5E78-56F3-1CE4-2EC75959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7309B59F-6F15-F78A-0FD7-700879728C54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45DDD62C-AE8F-B54F-DA63-4FC96889CE84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99097E43-FF6B-888A-3CAA-B7751EBDA512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6FD01378-38B3-9E27-1DCE-142B4238C0FE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9165606-46B0-6A92-A1CF-10A7FA8D6C77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Hệ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khuyến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nghị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249FB9A1-2CA9-DADF-24FF-C9B08E8DF0A7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7A150108-46D4-F6B7-5058-CE3E5E329156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BF33229C-38EA-3065-8E13-3A3D643459CB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605C94D2-8CCB-6080-AC52-35F880DCB98E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EBD62F26-F5BE-ADEA-9A5B-7BE4A9031B49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71B8DABE-F061-B2A4-997C-8E8EC1990EAC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AA96DF87-2034-34C9-9ECF-1499E1C7A490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2D1538B6-22D0-EF22-5687-FECE9203B8D5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585151B3-696A-0A61-D7D2-6537EFABEE6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7B256A37-C907-CD47-016E-7B8813C8E3AD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9832C225-9992-F422-464A-A2010B4C5D4A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BFAF430A-F788-E0DF-0DD9-544CC8BB6B93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0560D7FE-E843-C4ED-2B07-934C00461C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4" name="Hộp Văn bản 3">
            <a:extLst>
              <a:ext uri="{FF2B5EF4-FFF2-40B4-BE49-F238E27FC236}">
                <a16:creationId xmlns:a16="http://schemas.microsoft.com/office/drawing/2014/main" id="{5D0A8DE4-84DE-B812-6E90-25A3068DEBFD}"/>
              </a:ext>
            </a:extLst>
          </p:cNvPr>
          <p:cNvSpPr txBox="1"/>
          <p:nvPr/>
        </p:nvSpPr>
        <p:spPr>
          <a:xfrm>
            <a:off x="762000" y="1714500"/>
            <a:ext cx="9144000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💻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Gợi</a:t>
            </a:r>
            <a:r>
              <a:rPr lang="en-US" dirty="0"/>
              <a:t> ý Workout</a:t>
            </a:r>
          </a:p>
          <a:p>
            <a:endParaRPr lang="en-US" dirty="0"/>
          </a:p>
          <a:p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:</a:t>
            </a:r>
          </a:p>
          <a:p>
            <a:r>
              <a:rPr lang="en-US" dirty="0"/>
              <a:t>├─ Thông tin: </a:t>
            </a:r>
            <a:r>
              <a:rPr lang="en-US" dirty="0" err="1"/>
              <a:t>Tuổi</a:t>
            </a:r>
            <a:r>
              <a:rPr lang="en-US" dirty="0"/>
              <a:t>, </a:t>
            </a:r>
            <a:r>
              <a:rPr lang="en-US" dirty="0" err="1"/>
              <a:t>giới</a:t>
            </a:r>
            <a:r>
              <a:rPr lang="en-US" dirty="0"/>
              <a:t> </a:t>
            </a:r>
            <a:r>
              <a:rPr lang="en-US" dirty="0" err="1"/>
              <a:t>tính</a:t>
            </a:r>
            <a:r>
              <a:rPr lang="en-US" dirty="0"/>
              <a:t>, </a:t>
            </a:r>
            <a:r>
              <a:rPr lang="en-US" dirty="0" err="1"/>
              <a:t>cân</a:t>
            </a:r>
            <a:r>
              <a:rPr lang="en-US" dirty="0"/>
              <a:t> </a:t>
            </a:r>
            <a:r>
              <a:rPr lang="en-US" dirty="0" err="1"/>
              <a:t>nặng</a:t>
            </a:r>
            <a:r>
              <a:rPr lang="en-US" dirty="0"/>
              <a:t>, </a:t>
            </a:r>
            <a:r>
              <a:rPr lang="en-US" dirty="0" err="1"/>
              <a:t>chiều</a:t>
            </a:r>
            <a:r>
              <a:rPr lang="en-US" dirty="0"/>
              <a:t> </a:t>
            </a:r>
            <a:r>
              <a:rPr lang="en-US" dirty="0" err="1"/>
              <a:t>cao</a:t>
            </a:r>
            <a:endParaRPr lang="en-US" dirty="0"/>
          </a:p>
          <a:p>
            <a:r>
              <a:rPr lang="en-US" dirty="0"/>
              <a:t>├─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: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cân</a:t>
            </a:r>
            <a:r>
              <a:rPr lang="en-US" dirty="0"/>
              <a:t> /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/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mỡ</a:t>
            </a:r>
            <a:r>
              <a:rPr lang="en-US" dirty="0"/>
              <a:t> / Duy </a:t>
            </a:r>
            <a:r>
              <a:rPr lang="en-US" dirty="0" err="1"/>
              <a:t>trì</a:t>
            </a:r>
            <a:endParaRPr lang="en-US" dirty="0"/>
          </a:p>
          <a:p>
            <a:r>
              <a:rPr lang="en-US" dirty="0"/>
              <a:t>└─ </a:t>
            </a:r>
            <a:r>
              <a:rPr lang="en-US" dirty="0" err="1"/>
              <a:t>Sở</a:t>
            </a:r>
            <a:r>
              <a:rPr lang="en-US" dirty="0"/>
              <a:t> </a:t>
            </a:r>
            <a:r>
              <a:rPr lang="en-US" dirty="0" err="1"/>
              <a:t>thích</a:t>
            </a:r>
            <a:r>
              <a:rPr lang="en-US" dirty="0"/>
              <a:t>: </a:t>
            </a:r>
            <a:r>
              <a:rPr lang="en-US" dirty="0" err="1"/>
              <a:t>Loại</a:t>
            </a:r>
            <a:r>
              <a:rPr lang="en-US" dirty="0"/>
              <a:t> workout </a:t>
            </a:r>
            <a:r>
              <a:rPr lang="en-US" dirty="0" err="1"/>
              <a:t>ưa</a:t>
            </a:r>
            <a:r>
              <a:rPr lang="en-US" dirty="0"/>
              <a:t> </a:t>
            </a:r>
            <a:r>
              <a:rPr lang="en-US" dirty="0" err="1"/>
              <a:t>thích</a:t>
            </a:r>
            <a:endParaRPr lang="en-US" dirty="0"/>
          </a:p>
          <a:p>
            <a:endParaRPr lang="en-US" dirty="0"/>
          </a:p>
          <a:p>
            <a:r>
              <a:rPr lang="en-US" dirty="0"/>
              <a:t>Quy </a:t>
            </a:r>
            <a:r>
              <a:rPr lang="en-US" dirty="0" err="1"/>
              <a:t>trình</a:t>
            </a:r>
            <a:r>
              <a:rPr lang="en-US" dirty="0"/>
              <a:t>:</a:t>
            </a:r>
          </a:p>
          <a:p>
            <a:r>
              <a:rPr lang="en-US" dirty="0"/>
              <a:t>1. </a:t>
            </a:r>
            <a:r>
              <a:rPr lang="en-US" dirty="0" err="1"/>
              <a:t>Tính</a:t>
            </a:r>
            <a:r>
              <a:rPr lang="en-US" dirty="0"/>
              <a:t> BMI, % </a:t>
            </a:r>
            <a:r>
              <a:rPr lang="en-US" dirty="0" err="1"/>
              <a:t>mỡ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 </a:t>
            </a:r>
            <a:r>
              <a:rPr lang="en-US" dirty="0" err="1"/>
              <a:t>thể</a:t>
            </a:r>
            <a:endParaRPr lang="en-US" dirty="0"/>
          </a:p>
          <a:p>
            <a:r>
              <a:rPr lang="en-US" dirty="0"/>
              <a:t>2. </a:t>
            </a:r>
            <a:r>
              <a:rPr lang="en-US" dirty="0" err="1"/>
              <a:t>Khớp</a:t>
            </a:r>
            <a:r>
              <a:rPr lang="en-US" dirty="0"/>
              <a:t> </a:t>
            </a:r>
            <a:r>
              <a:rPr lang="en-US" dirty="0" err="1"/>
              <a:t>với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mẫu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(</a:t>
            </a:r>
            <a:r>
              <a:rPr lang="en-US" dirty="0" err="1"/>
              <a:t>từ</a:t>
            </a:r>
            <a:r>
              <a:rPr lang="en-US" dirty="0"/>
              <a:t> </a:t>
            </a:r>
            <a:r>
              <a:rPr lang="en-US" dirty="0" err="1"/>
              <a:t>Apriori</a:t>
            </a:r>
            <a:r>
              <a:rPr lang="en-US" dirty="0"/>
              <a:t>)</a:t>
            </a:r>
          </a:p>
          <a:p>
            <a:r>
              <a:rPr lang="en-US" dirty="0"/>
              <a:t>3.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đoán</a:t>
            </a:r>
            <a:r>
              <a:rPr lang="en-US" dirty="0"/>
              <a:t> </a:t>
            </a:r>
            <a:r>
              <a:rPr lang="en-US" dirty="0" err="1"/>
              <a:t>cụm</a:t>
            </a:r>
            <a:r>
              <a:rPr lang="en-US" dirty="0"/>
              <a:t> (K-Means)</a:t>
            </a:r>
          </a:p>
          <a:p>
            <a:r>
              <a:rPr lang="en-US" dirty="0"/>
              <a:t>4. </a:t>
            </a:r>
            <a:r>
              <a:rPr lang="en-US" dirty="0" err="1"/>
              <a:t>Gợi</a:t>
            </a:r>
            <a:r>
              <a:rPr lang="en-US" dirty="0"/>
              <a:t> ý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:</a:t>
            </a:r>
          </a:p>
          <a:p>
            <a:r>
              <a:rPr lang="en-US" dirty="0"/>
              <a:t>   ├─ </a:t>
            </a:r>
            <a:r>
              <a:rPr lang="en-US" dirty="0" err="1"/>
              <a:t>Loại</a:t>
            </a:r>
            <a:r>
              <a:rPr lang="en-US" dirty="0"/>
              <a:t> workout &amp; </a:t>
            </a:r>
            <a:r>
              <a:rPr lang="en-US" dirty="0" err="1"/>
              <a:t>tần</a:t>
            </a:r>
            <a:r>
              <a:rPr lang="en-US" dirty="0"/>
              <a:t> </a:t>
            </a:r>
            <a:r>
              <a:rPr lang="en-US" dirty="0" err="1"/>
              <a:t>suất</a:t>
            </a:r>
            <a:endParaRPr lang="en-US" dirty="0"/>
          </a:p>
          <a:p>
            <a:r>
              <a:rPr lang="en-US" dirty="0"/>
              <a:t>   ├─ </a:t>
            </a:r>
            <a:r>
              <a:rPr lang="en-US" dirty="0" err="1"/>
              <a:t>Lượng</a:t>
            </a:r>
            <a:r>
              <a:rPr lang="en-US" dirty="0"/>
              <a:t> protein &amp; calories</a:t>
            </a:r>
          </a:p>
          <a:p>
            <a:r>
              <a:rPr lang="en-US" dirty="0"/>
              <a:t>   ├─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tốt</a:t>
            </a:r>
            <a:r>
              <a:rPr lang="en-US" dirty="0"/>
              <a:t> </a:t>
            </a:r>
            <a:r>
              <a:rPr lang="en-US" dirty="0" err="1"/>
              <a:t>nhất</a:t>
            </a:r>
            <a:endParaRPr lang="en-US" dirty="0"/>
          </a:p>
          <a:p>
            <a:r>
              <a:rPr lang="en-US" dirty="0"/>
              <a:t>   └─ Danh </a:t>
            </a:r>
            <a:r>
              <a:rPr lang="en-US" dirty="0" err="1"/>
              <a:t>sách</a:t>
            </a:r>
            <a:r>
              <a:rPr lang="en-US" dirty="0"/>
              <a:t> </a:t>
            </a:r>
            <a:r>
              <a:rPr lang="en-US" dirty="0" err="1"/>
              <a:t>bài</a:t>
            </a:r>
            <a:r>
              <a:rPr lang="en-US" dirty="0"/>
              <a:t> </a:t>
            </a:r>
            <a:r>
              <a:rPr lang="en-US" dirty="0" err="1"/>
              <a:t>tập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Đầu</a:t>
            </a:r>
            <a:r>
              <a:rPr lang="en-US" dirty="0"/>
              <a:t> </a:t>
            </a:r>
            <a:r>
              <a:rPr lang="en-US" dirty="0" err="1"/>
              <a:t>ra</a:t>
            </a:r>
            <a:r>
              <a:rPr lang="en-US" dirty="0"/>
              <a:t>:</a:t>
            </a:r>
          </a:p>
          <a:p>
            <a:r>
              <a:rPr lang="en-US" dirty="0"/>
              <a:t>└─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workout + </a:t>
            </a:r>
            <a:r>
              <a:rPr lang="en-US" dirty="0" err="1"/>
              <a:t>dinh</a:t>
            </a:r>
            <a:r>
              <a:rPr lang="en-US" dirty="0"/>
              <a:t> </a:t>
            </a:r>
            <a:r>
              <a:rPr lang="en-US" dirty="0" err="1"/>
              <a:t>dưỡng</a:t>
            </a:r>
            <a:r>
              <a:rPr lang="en-US" dirty="0"/>
              <a:t> </a:t>
            </a:r>
            <a:r>
              <a:rPr lang="en-US" dirty="0" err="1"/>
              <a:t>cá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hóa</a:t>
            </a:r>
            <a:endParaRPr lang="en-US" dirty="0"/>
          </a:p>
          <a:p>
            <a:endParaRPr lang="en-US" dirty="0"/>
          </a:p>
          <a:p>
            <a:r>
              <a:rPr lang="en-US" dirty="0"/>
              <a:t>[</a:t>
            </a:r>
            <a:r>
              <a:rPr lang="en-US" dirty="0" err="1"/>
              <a:t>Ảnh</a:t>
            </a:r>
            <a:r>
              <a:rPr lang="en-US" dirty="0"/>
              <a:t> </a:t>
            </a:r>
            <a:r>
              <a:rPr lang="en-US" dirty="0" err="1"/>
              <a:t>chụp</a:t>
            </a:r>
            <a:r>
              <a:rPr lang="en-US" dirty="0"/>
              <a:t> </a:t>
            </a:r>
            <a:r>
              <a:rPr lang="en-US" dirty="0" err="1"/>
              <a:t>màn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web app]</a:t>
            </a:r>
          </a:p>
        </p:txBody>
      </p:sp>
    </p:spTree>
    <p:extLst>
      <p:ext uri="{BB962C8B-B14F-4D97-AF65-F5344CB8AC3E}">
        <p14:creationId xmlns:p14="http://schemas.microsoft.com/office/powerpoint/2010/main" val="11304801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87F4BA-0113-F41D-9140-83F56B053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0D78C811-FE6E-1342-42DF-E093D6EF7167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358F96D-76E0-227C-D811-BDEBD632F007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BE226EB-231C-D090-2585-4D85ABB1C0EF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A50A3F16-A09A-6D01-FA55-97B2E6F6AC52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C2C113C3-1799-ACBA-1529-3A8127A0B512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Phát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hiện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chính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0A155306-D597-EADF-6ED0-CE5A40D8F052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3D91A058-3775-CF47-F9D8-FDDC8D71D072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27BBCDCA-2781-5D95-EF52-654FFC1F83CF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7FDC3C2A-2FC8-F6A4-0CC5-BF67EF8F538E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79491479-5D9B-97DD-92CA-FC6378345065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BE9158BB-4528-B4C9-56D6-67A345BF3B86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E2CAAA1B-F18A-ABAD-CD70-A7D54DF96E46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1B37B5A4-EBF4-E602-4F68-6CE8B53E710C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A792527E-EBC8-15C5-0055-0A91B8D3BFC9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8863A7A7-7939-8F23-34A0-2C41064F3A53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BDE7AD2D-2CCF-F27C-EA96-245F9096206F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A641D369-C968-046F-396B-E0A20475E579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332E3ED9-B1E5-0D0C-61AB-3D77595FE9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DBB9673D-F908-8D2E-F6F2-A8DEC273B90A}"/>
              </a:ext>
            </a:extLst>
          </p:cNvPr>
          <p:cNvSpPr txBox="1"/>
          <p:nvPr/>
        </p:nvSpPr>
        <p:spPr>
          <a:xfrm>
            <a:off x="636919" y="1914964"/>
            <a:ext cx="9144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🔑 </a:t>
            </a:r>
            <a:r>
              <a:rPr lang="en-US" dirty="0" err="1"/>
              <a:t>Những</a:t>
            </a:r>
            <a:r>
              <a:rPr lang="en-US" dirty="0"/>
              <a:t>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n-US" dirty="0"/>
              <a:t>1. Công </a:t>
            </a:r>
            <a:r>
              <a:rPr lang="en-US" dirty="0" err="1"/>
              <a:t>thức</a:t>
            </a:r>
            <a:r>
              <a:rPr lang="en-US" dirty="0"/>
              <a:t> Thành </a:t>
            </a:r>
            <a:r>
              <a:rPr lang="en-US" dirty="0" err="1"/>
              <a:t>công</a:t>
            </a:r>
            <a:r>
              <a:rPr lang="en-US" dirty="0"/>
              <a:t>:</a:t>
            </a:r>
          </a:p>
          <a:p>
            <a:r>
              <a:rPr lang="en-US" dirty="0"/>
              <a:t>   NẾU </a:t>
            </a:r>
            <a:r>
              <a:rPr lang="en-US" dirty="0" err="1"/>
              <a:t>Tần_suất</a:t>
            </a:r>
            <a:r>
              <a:rPr lang="en-US" dirty="0"/>
              <a:t> ≥4 VÀ Protein ≥</a:t>
            </a:r>
            <a:r>
              <a:rPr lang="en-US" dirty="0" err="1"/>
              <a:t>Trung_bình</a:t>
            </a:r>
            <a:r>
              <a:rPr lang="en-US" dirty="0"/>
              <a:t> VÀ </a:t>
            </a:r>
            <a:r>
              <a:rPr lang="en-US" dirty="0" err="1"/>
              <a:t>Thời_lượng</a:t>
            </a:r>
            <a:r>
              <a:rPr lang="en-US" dirty="0"/>
              <a:t> ≥30 </a:t>
            </a:r>
            <a:r>
              <a:rPr lang="en-US" dirty="0" err="1"/>
              <a:t>phút</a:t>
            </a:r>
            <a:endParaRPr lang="en-US" dirty="0"/>
          </a:p>
          <a:p>
            <a:r>
              <a:rPr lang="en-US" dirty="0"/>
              <a:t>   THÌ </a:t>
            </a:r>
            <a:r>
              <a:rPr lang="en-US" dirty="0" err="1"/>
              <a:t>Tỷ_lệ_thành_công</a:t>
            </a:r>
            <a:r>
              <a:rPr lang="en-US" dirty="0"/>
              <a:t> = 85%+</a:t>
            </a:r>
          </a:p>
          <a:p>
            <a:endParaRPr lang="en-US" dirty="0"/>
          </a:p>
          <a:p>
            <a:r>
              <a:rPr lang="en-US" dirty="0"/>
              <a:t>2. </a:t>
            </a:r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:</a:t>
            </a:r>
          </a:p>
          <a:p>
            <a:r>
              <a:rPr lang="en-US" dirty="0"/>
              <a:t>   ├─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cơ</a:t>
            </a:r>
            <a:r>
              <a:rPr lang="en-US" dirty="0"/>
              <a:t>: </a:t>
            </a:r>
            <a:r>
              <a:rPr lang="en-US" dirty="0" err="1"/>
              <a:t>Tạ</a:t>
            </a:r>
            <a:r>
              <a:rPr lang="en-US" dirty="0"/>
              <a:t> + Protein </a:t>
            </a:r>
            <a:r>
              <a:rPr lang="en-US" dirty="0" err="1"/>
              <a:t>cao</a:t>
            </a:r>
            <a:r>
              <a:rPr lang="en-US" dirty="0"/>
              <a:t> (70%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)</a:t>
            </a:r>
          </a:p>
          <a:p>
            <a:r>
              <a:rPr lang="en-US" dirty="0"/>
              <a:t>   ├─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cân</a:t>
            </a:r>
            <a:r>
              <a:rPr lang="en-US" dirty="0"/>
              <a:t>: Cardio/HIIT + 4-5 </a:t>
            </a:r>
            <a:r>
              <a:rPr lang="en-US" dirty="0" err="1"/>
              <a:t>ngày</a:t>
            </a:r>
            <a:r>
              <a:rPr lang="en-US" dirty="0"/>
              <a:t>/</a:t>
            </a:r>
            <a:r>
              <a:rPr lang="en-US" dirty="0" err="1"/>
              <a:t>tuần</a:t>
            </a:r>
            <a:r>
              <a:rPr lang="en-US" dirty="0"/>
              <a:t> (54%)</a:t>
            </a:r>
          </a:p>
          <a:p>
            <a:r>
              <a:rPr lang="en-US" dirty="0"/>
              <a:t>   ├─ </a:t>
            </a:r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mỡ</a:t>
            </a:r>
            <a:r>
              <a:rPr lang="en-US" dirty="0"/>
              <a:t>: HIIT + </a:t>
            </a:r>
            <a:r>
              <a:rPr lang="en-US" dirty="0" err="1"/>
              <a:t>Buổi</a:t>
            </a:r>
            <a:r>
              <a:rPr lang="en-US" dirty="0"/>
              <a:t> </a:t>
            </a:r>
            <a:r>
              <a:rPr lang="en-US" dirty="0" err="1"/>
              <a:t>sáng</a:t>
            </a:r>
            <a:r>
              <a:rPr lang="en-US" dirty="0"/>
              <a:t> (45%)</a:t>
            </a:r>
          </a:p>
          <a:p>
            <a:r>
              <a:rPr lang="en-US" dirty="0"/>
              <a:t>   └─ Duy </a:t>
            </a:r>
            <a:r>
              <a:rPr lang="en-US" dirty="0" err="1"/>
              <a:t>trì</a:t>
            </a:r>
            <a:r>
              <a:rPr lang="en-US" dirty="0"/>
              <a:t>: </a:t>
            </a:r>
            <a:r>
              <a:rPr lang="en-US" dirty="0" err="1"/>
              <a:t>Phối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+ 3-4 </a:t>
            </a:r>
            <a:r>
              <a:rPr lang="en-US" dirty="0" err="1"/>
              <a:t>ngày</a:t>
            </a:r>
            <a:r>
              <a:rPr lang="en-US" dirty="0"/>
              <a:t>/</a:t>
            </a:r>
            <a:r>
              <a:rPr lang="en-US" dirty="0" err="1"/>
              <a:t>tuần</a:t>
            </a:r>
            <a:r>
              <a:rPr lang="en-US" dirty="0"/>
              <a:t> (56%)</a:t>
            </a:r>
          </a:p>
          <a:p>
            <a:endParaRPr lang="en-US" dirty="0"/>
          </a:p>
          <a:p>
            <a:r>
              <a:rPr lang="en-US" dirty="0"/>
              <a:t>3. </a:t>
            </a:r>
            <a:r>
              <a:rPr lang="en-US" dirty="0" err="1"/>
              <a:t>Yếu</a:t>
            </a:r>
            <a:r>
              <a:rPr lang="en-US" dirty="0"/>
              <a:t> </a:t>
            </a:r>
            <a:r>
              <a:rPr lang="en-US" dirty="0" err="1"/>
              <a:t>tố</a:t>
            </a:r>
            <a:r>
              <a:rPr lang="en-US" dirty="0"/>
              <a:t> </a:t>
            </a:r>
            <a:r>
              <a:rPr lang="en-US" dirty="0" err="1"/>
              <a:t>Quyết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(</a:t>
            </a:r>
            <a:r>
              <a:rPr lang="en-US" dirty="0" err="1"/>
              <a:t>từ</a:t>
            </a:r>
            <a:r>
              <a:rPr lang="en-US" dirty="0"/>
              <a:t> RF + </a:t>
            </a:r>
            <a:r>
              <a:rPr lang="en-US" dirty="0" err="1"/>
              <a:t>Apriori</a:t>
            </a:r>
            <a:r>
              <a:rPr lang="en-US" dirty="0"/>
              <a:t>):</a:t>
            </a:r>
          </a:p>
          <a:p>
            <a:r>
              <a:rPr lang="en-US" dirty="0"/>
              <a:t>   ⭐ </a:t>
            </a:r>
            <a:r>
              <a:rPr lang="en-US" dirty="0" err="1"/>
              <a:t>Tần</a:t>
            </a:r>
            <a:r>
              <a:rPr lang="en-US" dirty="0"/>
              <a:t> </a:t>
            </a:r>
            <a:r>
              <a:rPr lang="en-US" dirty="0" err="1"/>
              <a:t>suất</a:t>
            </a:r>
            <a:r>
              <a:rPr lang="en-US" dirty="0"/>
              <a:t> (</a:t>
            </a:r>
            <a:r>
              <a:rPr lang="en-US" dirty="0" err="1"/>
              <a:t>tầm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 25-28%)</a:t>
            </a:r>
          </a:p>
          <a:p>
            <a:r>
              <a:rPr lang="en-US" dirty="0"/>
              <a:t>   ⭐ Protein (20-22%)</a:t>
            </a:r>
          </a:p>
          <a:p>
            <a:r>
              <a:rPr lang="en-US" dirty="0"/>
              <a:t>   ⭐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Workout-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(</a:t>
            </a:r>
            <a:r>
              <a:rPr lang="en-US" dirty="0" err="1"/>
              <a:t>tăng</a:t>
            </a:r>
            <a:r>
              <a:rPr lang="en-US" dirty="0"/>
              <a:t> 15-30% </a:t>
            </a:r>
            <a:r>
              <a:rPr lang="en-US" dirty="0" err="1"/>
              <a:t>độ</a:t>
            </a:r>
            <a:r>
              <a:rPr lang="en-US" dirty="0"/>
              <a:t> tin </a:t>
            </a:r>
            <a:r>
              <a:rPr lang="en-US" dirty="0" err="1"/>
              <a:t>cậy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4.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quan</a:t>
            </a:r>
            <a:r>
              <a:rPr lang="en-US" dirty="0"/>
              <a:t> </a:t>
            </a:r>
            <a:r>
              <a:rPr lang="en-US" dirty="0" err="1"/>
              <a:t>trọng</a:t>
            </a:r>
            <a:r>
              <a:rPr lang="en-US" dirty="0"/>
              <a:t>:</a:t>
            </a:r>
          </a:p>
          <a:p>
            <a:r>
              <a:rPr lang="en-US" dirty="0"/>
              <a:t>   </a:t>
            </a:r>
            <a:r>
              <a:rPr lang="en-US" dirty="0" err="1"/>
              <a:t>Buổi</a:t>
            </a:r>
            <a:r>
              <a:rPr lang="en-US" dirty="0"/>
              <a:t> </a:t>
            </a:r>
            <a:r>
              <a:rPr lang="en-US" dirty="0" err="1"/>
              <a:t>sáng</a:t>
            </a:r>
            <a:r>
              <a:rPr lang="en-US" dirty="0"/>
              <a:t> → 62%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công</a:t>
            </a:r>
            <a:endParaRPr lang="en-US" dirty="0"/>
          </a:p>
          <a:p>
            <a:r>
              <a:rPr lang="en-US" dirty="0"/>
              <a:t>   </a:t>
            </a:r>
            <a:r>
              <a:rPr lang="en-US" dirty="0" err="1"/>
              <a:t>Buổi</a:t>
            </a:r>
            <a:r>
              <a:rPr lang="en-US" dirty="0"/>
              <a:t> </a:t>
            </a:r>
            <a:r>
              <a:rPr lang="en-US" dirty="0" err="1"/>
              <a:t>chiều</a:t>
            </a:r>
            <a:r>
              <a:rPr lang="en-US" dirty="0"/>
              <a:t> → 54% | </a:t>
            </a:r>
            <a:r>
              <a:rPr lang="en-US" dirty="0" err="1"/>
              <a:t>Buổi</a:t>
            </a:r>
            <a:r>
              <a:rPr lang="en-US" dirty="0"/>
              <a:t> </a:t>
            </a:r>
            <a:r>
              <a:rPr lang="en-US" dirty="0" err="1"/>
              <a:t>tối</a:t>
            </a:r>
            <a:r>
              <a:rPr lang="en-US" dirty="0"/>
              <a:t> → 51%</a:t>
            </a:r>
          </a:p>
        </p:txBody>
      </p:sp>
    </p:spTree>
    <p:extLst>
      <p:ext uri="{BB962C8B-B14F-4D97-AF65-F5344CB8AC3E}">
        <p14:creationId xmlns:p14="http://schemas.microsoft.com/office/powerpoint/2010/main" val="1314469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1B594A-7C3B-729B-5F01-B6BC71822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8F338E13-CB91-8A39-2842-28CCD31FB8AD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7284AA-138C-8CF4-DB4F-062BD639E48B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46780040-9C91-425C-E9D5-8042A313EECC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48203267-90EC-592F-77DD-302C035E9923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4B546CFB-4938-A3D4-F451-050FCA0F16D2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Demo</a:t>
            </a: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F7DDFA80-9849-58BC-712F-B25E58AB9736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03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6C8C2D45-412C-7700-E5EA-3176BA07A7CE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6B2120CF-3A86-9A37-7784-B40F2A5D4090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E8310129-0CFC-4027-0FB3-B56FF47AC882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AC21C726-B837-D2B6-B78C-237E2895E956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F994BFA3-D82A-4195-846A-BAAEE8D47A94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D268AF37-D87B-4F0B-ED97-766046DEBE0F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AD00F819-BC10-3065-2EEC-6ADA02376F72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EC258BE8-B8A3-181B-3118-1B0C0CF20140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4C6AB485-9BE1-713E-290C-CE926AB8E0BA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CC8B67E2-BA80-2DBF-46E5-DD8DF24F15D9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FFE6C061-1F42-037C-D974-CE8B102D04C5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D4525175-D484-364B-D2DD-197998A1F2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  <p:sp>
        <p:nvSpPr>
          <p:cNvPr id="5" name="Hộp Văn bản 4">
            <a:extLst>
              <a:ext uri="{FF2B5EF4-FFF2-40B4-BE49-F238E27FC236}">
                <a16:creationId xmlns:a16="http://schemas.microsoft.com/office/drawing/2014/main" id="{3E9B6591-E148-12D3-0DF4-49FAE3F3F3F5}"/>
              </a:ext>
            </a:extLst>
          </p:cNvPr>
          <p:cNvSpPr txBox="1"/>
          <p:nvPr/>
        </p:nvSpPr>
        <p:spPr>
          <a:xfrm>
            <a:off x="636919" y="1914964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Video</a:t>
            </a:r>
          </a:p>
        </p:txBody>
      </p:sp>
    </p:spTree>
    <p:extLst>
      <p:ext uri="{BB962C8B-B14F-4D97-AF65-F5344CB8AC3E}">
        <p14:creationId xmlns:p14="http://schemas.microsoft.com/office/powerpoint/2010/main" val="34460406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BA9EFE-CAC1-A320-FEA0-6140130A0B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 24">
            <a:extLst>
              <a:ext uri="{FF2B5EF4-FFF2-40B4-BE49-F238E27FC236}">
                <a16:creationId xmlns:a16="http://schemas.microsoft.com/office/drawing/2014/main" id="{31844333-AA11-4109-FA20-E1F440340A38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Hình Bầu dục 10">
            <a:extLst>
              <a:ext uri="{FF2B5EF4-FFF2-40B4-BE49-F238E27FC236}">
                <a16:creationId xmlns:a16="http://schemas.microsoft.com/office/drawing/2014/main" id="{EADCD5B8-F974-4EAF-B93F-79F334429F79}"/>
              </a:ext>
            </a:extLst>
          </p:cNvPr>
          <p:cNvSpPr/>
          <p:nvPr/>
        </p:nvSpPr>
        <p:spPr>
          <a:xfrm>
            <a:off x="3619500" y="2374385"/>
            <a:ext cx="11049000" cy="48768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5,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Kết</a:t>
            </a:r>
            <a:r>
              <a:rPr lang="en-US" sz="6000" b="1" dirty="0">
                <a:solidFill>
                  <a:schemeClr val="tx1"/>
                </a:solidFill>
                <a:latin typeface="Cambria Bold" panose="02040803050406030204" pitchFamily="18" charset="0"/>
              </a:rPr>
              <a:t> </a:t>
            </a:r>
            <a:r>
              <a:rPr lang="en-US" sz="6000" b="1" dirty="0" err="1">
                <a:solidFill>
                  <a:schemeClr val="tx1"/>
                </a:solidFill>
                <a:latin typeface="Cambria Bold" panose="02040803050406030204" pitchFamily="18" charset="0"/>
              </a:rPr>
              <a:t>luận</a:t>
            </a:r>
            <a:endParaRPr lang="en-US" sz="6000" b="1" dirty="0">
              <a:solidFill>
                <a:schemeClr val="tx1"/>
              </a:solidFill>
              <a:latin typeface="Cambria Bold" panose="02040803050406030204" pitchFamily="18" charset="0"/>
            </a:endParaRPr>
          </a:p>
        </p:txBody>
      </p:sp>
      <p:sp>
        <p:nvSpPr>
          <p:cNvPr id="7" name="TextBox 5">
            <a:extLst>
              <a:ext uri="{FF2B5EF4-FFF2-40B4-BE49-F238E27FC236}">
                <a16:creationId xmlns:a16="http://schemas.microsoft.com/office/drawing/2014/main" id="{473755C0-99DB-B917-25E3-0C50F0F5F6CF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8" name="TextBox 6">
            <a:extLst>
              <a:ext uri="{FF2B5EF4-FFF2-40B4-BE49-F238E27FC236}">
                <a16:creationId xmlns:a16="http://schemas.microsoft.com/office/drawing/2014/main" id="{8C7F84BF-854A-1EA8-7401-4183AE30E58C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9" name="TextBox 5">
            <a:extLst>
              <a:ext uri="{FF2B5EF4-FFF2-40B4-BE49-F238E27FC236}">
                <a16:creationId xmlns:a16="http://schemas.microsoft.com/office/drawing/2014/main" id="{AFC150B0-CF6E-3C23-2177-E36367A977A2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CBBD4751-5776-5370-D1A6-CD0F7F941C46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D56DBA09-0FE0-3323-E37F-60ECDDD0728F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13" name="TextBox 14">
            <a:extLst>
              <a:ext uri="{FF2B5EF4-FFF2-40B4-BE49-F238E27FC236}">
                <a16:creationId xmlns:a16="http://schemas.microsoft.com/office/drawing/2014/main" id="{E98F82B9-EA96-387F-0C8C-CC2B6A1397EB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4EE28072-AAFB-71B5-5DEF-B93F482426BE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15" name="Group 8">
            <a:extLst>
              <a:ext uri="{FF2B5EF4-FFF2-40B4-BE49-F238E27FC236}">
                <a16:creationId xmlns:a16="http://schemas.microsoft.com/office/drawing/2014/main" id="{25DB9863-3FC1-9686-9FD9-26359EE7EF30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16" name="Freeform 9">
              <a:extLst>
                <a:ext uri="{FF2B5EF4-FFF2-40B4-BE49-F238E27FC236}">
                  <a16:creationId xmlns:a16="http://schemas.microsoft.com/office/drawing/2014/main" id="{EEF1414D-410A-CBA3-F4C4-D73DC9197BD8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7" name="TextBox 11">
            <a:extLst>
              <a:ext uri="{FF2B5EF4-FFF2-40B4-BE49-F238E27FC236}">
                <a16:creationId xmlns:a16="http://schemas.microsoft.com/office/drawing/2014/main" id="{11287FB7-C8C6-5DF0-8485-DD0871A844DC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8" name="TextBox 12">
            <a:extLst>
              <a:ext uri="{FF2B5EF4-FFF2-40B4-BE49-F238E27FC236}">
                <a16:creationId xmlns:a16="http://schemas.microsoft.com/office/drawing/2014/main" id="{6A2CA5FC-3535-03FD-7EA2-E76FF6560BF4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19" name="Picture 2" descr="Viện Trí tuệ nhân tạo | Hanoi">
            <a:extLst>
              <a:ext uri="{FF2B5EF4-FFF2-40B4-BE49-F238E27FC236}">
                <a16:creationId xmlns:a16="http://schemas.microsoft.com/office/drawing/2014/main" id="{7F6644D0-578B-E875-550E-812D72140F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5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1237160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939BD7-DEFA-A85D-6FF3-69DF7E5F9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>
            <a:extLst>
              <a:ext uri="{FF2B5EF4-FFF2-40B4-BE49-F238E27FC236}">
                <a16:creationId xmlns:a16="http://schemas.microsoft.com/office/drawing/2014/main" id="{62C78442-0664-2F06-ED19-4B0850612B75}"/>
              </a:ext>
            </a:extLst>
          </p:cNvPr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F756A865-6C27-D9C9-4213-DB56260E1F77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7F63920-A4F9-12B3-F9D2-0E4D26D8839D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6" name="Freeform 7">
            <a:extLst>
              <a:ext uri="{FF2B5EF4-FFF2-40B4-BE49-F238E27FC236}">
                <a16:creationId xmlns:a16="http://schemas.microsoft.com/office/drawing/2014/main" id="{E9D58AAB-CD64-98D7-1765-2F0585761E55}"/>
              </a:ext>
            </a:extLst>
          </p:cNvPr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8CAB9ACF-1695-D590-66D0-9C702D2C3B0C}"/>
              </a:ext>
            </a:extLst>
          </p:cNvPr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Kết</a:t>
            </a:r>
            <a:r>
              <a:rPr lang="en-US" sz="3800" b="1" spc="35" dirty="0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 </a:t>
            </a:r>
            <a:r>
              <a:rPr lang="en-US" sz="3800" b="1" spc="35" dirty="0" err="1">
                <a:solidFill>
                  <a:srgbClr val="000000"/>
                </a:solidFill>
                <a:latin typeface="Arial" panose="020B0604020202020204" pitchFamily="34" charset="0"/>
                <a:ea typeface="TT Rounds Condensed"/>
                <a:cs typeface="Arial" panose="020B0604020202020204" pitchFamily="34" charset="0"/>
                <a:sym typeface="TT Rounds Condensed"/>
              </a:rPr>
              <a:t>luận</a:t>
            </a:r>
            <a:endParaRPr lang="en-US" sz="3800" b="1" spc="35" dirty="0">
              <a:solidFill>
                <a:srgbClr val="000000"/>
              </a:solidFill>
              <a:latin typeface="Arial" panose="020B0604020202020204" pitchFamily="34" charset="0"/>
              <a:ea typeface="TT Rounds Condensed"/>
              <a:cs typeface="Arial" panose="020B0604020202020204" pitchFamily="34" charset="0"/>
              <a:sym typeface="TT Rounds Condensed"/>
            </a:endParaRPr>
          </a:p>
        </p:txBody>
      </p:sp>
      <p:sp>
        <p:nvSpPr>
          <p:cNvPr id="18" name="TextBox 9">
            <a:extLst>
              <a:ext uri="{FF2B5EF4-FFF2-40B4-BE49-F238E27FC236}">
                <a16:creationId xmlns:a16="http://schemas.microsoft.com/office/drawing/2014/main" id="{7CBD3451-4439-9E9D-4C32-E146A753C470}"/>
              </a:ext>
            </a:extLst>
          </p:cNvPr>
          <p:cNvSpPr txBox="1"/>
          <p:nvPr/>
        </p:nvSpPr>
        <p:spPr>
          <a:xfrm>
            <a:off x="636919" y="505050"/>
            <a:ext cx="1028699" cy="6412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 dirty="0">
                <a:solidFill>
                  <a:srgbClr val="000000"/>
                </a:solidFill>
                <a:latin typeface="Cambria Bold" panose="02040803050406030204" pitchFamily="18" charset="0"/>
                <a:ea typeface="TT Rounds Condensed Bold"/>
                <a:cs typeface="TT Rounds Condensed Bold"/>
                <a:sym typeface="TT Rounds Condensed Bold"/>
              </a:rPr>
              <a:t>01</a:t>
            </a:r>
          </a:p>
        </p:txBody>
      </p:sp>
      <p:sp>
        <p:nvSpPr>
          <p:cNvPr id="14" name="TextBox 5">
            <a:extLst>
              <a:ext uri="{FF2B5EF4-FFF2-40B4-BE49-F238E27FC236}">
                <a16:creationId xmlns:a16="http://schemas.microsoft.com/office/drawing/2014/main" id="{3EB2C7D5-6957-478F-C6F7-C63CB21C428C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5" name="TextBox 6">
            <a:extLst>
              <a:ext uri="{FF2B5EF4-FFF2-40B4-BE49-F238E27FC236}">
                <a16:creationId xmlns:a16="http://schemas.microsoft.com/office/drawing/2014/main" id="{B77FEC78-1801-42C6-4EAA-EA9D7D731D05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C94A8137-66A4-0097-3E9C-FABDD5966138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9D90D1D9-228C-6922-2BC7-ED716C710DF2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12">
            <a:extLst>
              <a:ext uri="{FF2B5EF4-FFF2-40B4-BE49-F238E27FC236}">
                <a16:creationId xmlns:a16="http://schemas.microsoft.com/office/drawing/2014/main" id="{BDDE7A91-1D29-FDEC-0510-C6DCEEF27EF6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2" name="TextBox 14">
            <a:extLst>
              <a:ext uri="{FF2B5EF4-FFF2-40B4-BE49-F238E27FC236}">
                <a16:creationId xmlns:a16="http://schemas.microsoft.com/office/drawing/2014/main" id="{9D4C205C-22EA-652A-0DC7-0C243C5F1283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3" name="TextBox 4">
            <a:extLst>
              <a:ext uri="{FF2B5EF4-FFF2-40B4-BE49-F238E27FC236}">
                <a16:creationId xmlns:a16="http://schemas.microsoft.com/office/drawing/2014/main" id="{ADED4A0F-B1AC-D2D6-055F-02AD66B0968B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4" name="Group 8">
            <a:extLst>
              <a:ext uri="{FF2B5EF4-FFF2-40B4-BE49-F238E27FC236}">
                <a16:creationId xmlns:a16="http://schemas.microsoft.com/office/drawing/2014/main" id="{80778910-A036-4C7F-FD3C-D558807C7DD2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5" name="Freeform 9">
              <a:extLst>
                <a:ext uri="{FF2B5EF4-FFF2-40B4-BE49-F238E27FC236}">
                  <a16:creationId xmlns:a16="http://schemas.microsoft.com/office/drawing/2014/main" id="{DA9397A8-640F-3EB4-A02F-E980035375D1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11">
            <a:extLst>
              <a:ext uri="{FF2B5EF4-FFF2-40B4-BE49-F238E27FC236}">
                <a16:creationId xmlns:a16="http://schemas.microsoft.com/office/drawing/2014/main" id="{37D664C5-1EEC-EF04-11C6-21E00307F83B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9" name="TextBox 12">
            <a:extLst>
              <a:ext uri="{FF2B5EF4-FFF2-40B4-BE49-F238E27FC236}">
                <a16:creationId xmlns:a16="http://schemas.microsoft.com/office/drawing/2014/main" id="{1CC438EE-E740-0B5D-DE66-8DFA2A9CE4B1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  <p:pic>
        <p:nvPicPr>
          <p:cNvPr id="30" name="Picture 2" descr="Viện Trí tuệ nhân tạo | Hanoi">
            <a:extLst>
              <a:ext uri="{FF2B5EF4-FFF2-40B4-BE49-F238E27FC236}">
                <a16:creationId xmlns:a16="http://schemas.microsoft.com/office/drawing/2014/main" id="{A97E16DB-BF27-964E-96B2-C6DD84541B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6"/>
            <a:stretch>
              <a:fillRect/>
            </a:stretch>
          </a:blipFill>
        </p:spPr>
      </p:pic>
    </p:spTree>
    <p:extLst>
      <p:ext uri="{BB962C8B-B14F-4D97-AF65-F5344CB8AC3E}">
        <p14:creationId xmlns:p14="http://schemas.microsoft.com/office/powerpoint/2010/main" val="19607252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15801016" y="233354"/>
            <a:ext cx="973468" cy="973468"/>
          </a:xfrm>
          <a:custGeom>
            <a:avLst/>
            <a:gdLst/>
            <a:ahLst/>
            <a:cxnLst/>
            <a:rect l="l" t="t" r="r" b="b"/>
            <a:pathLst>
              <a:path w="973468" h="973468">
                <a:moveTo>
                  <a:pt x="0" y="0"/>
                </a:moveTo>
                <a:lnTo>
                  <a:pt x="973468" y="0"/>
                </a:lnTo>
                <a:lnTo>
                  <a:pt x="973468" y="973468"/>
                </a:lnTo>
                <a:lnTo>
                  <a:pt x="0" y="97346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399032" y="545212"/>
            <a:ext cx="57150" cy="570736"/>
          </a:xfrm>
          <a:custGeom>
            <a:avLst/>
            <a:gdLst/>
            <a:ahLst/>
            <a:cxnLst/>
            <a:rect l="l" t="t" r="r" b="b"/>
            <a:pathLst>
              <a:path w="57150" h="570736">
                <a:moveTo>
                  <a:pt x="0" y="0"/>
                </a:moveTo>
                <a:lnTo>
                  <a:pt x="57150" y="0"/>
                </a:lnTo>
                <a:lnTo>
                  <a:pt x="57150" y="570736"/>
                </a:lnTo>
                <a:lnTo>
                  <a:pt x="0" y="5707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b="-133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6654018" y="3086100"/>
            <a:ext cx="4979963" cy="4114800"/>
          </a:xfrm>
          <a:custGeom>
            <a:avLst/>
            <a:gdLst/>
            <a:ahLst/>
            <a:cxnLst/>
            <a:rect l="l" t="t" r="r" b="b"/>
            <a:pathLst>
              <a:path w="4979963" h="4114800">
                <a:moveTo>
                  <a:pt x="0" y="0"/>
                </a:moveTo>
                <a:lnTo>
                  <a:pt x="4979964" y="0"/>
                </a:lnTo>
                <a:lnTo>
                  <a:pt x="4979964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665618" y="541962"/>
            <a:ext cx="6868880" cy="571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60"/>
              </a:lnSpc>
            </a:pPr>
            <a:r>
              <a:rPr lang="en-US" sz="3800" spc="35">
                <a:solidFill>
                  <a:srgbClr val="000000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Tổng quan về RAG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15582" y="547297"/>
            <a:ext cx="783450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40"/>
              </a:lnSpc>
            </a:pPr>
            <a:r>
              <a:rPr lang="en-US" sz="4200" b="1" spc="39">
                <a:solidFill>
                  <a:srgbClr val="000000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02</a:t>
            </a:r>
          </a:p>
        </p:txBody>
      </p:sp>
      <p:pic>
        <p:nvPicPr>
          <p:cNvPr id="12" name="Picture 2" descr="Viện Trí tuệ nhân tạo | Hanoi">
            <a:extLst>
              <a:ext uri="{FF2B5EF4-FFF2-40B4-BE49-F238E27FC236}">
                <a16:creationId xmlns:a16="http://schemas.microsoft.com/office/drawing/2014/main" id="{DCED1DC0-DD6C-F1C5-F253-83C4FB2F2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57967" y="233356"/>
            <a:ext cx="973466" cy="977812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</p:pic>
      <p:sp>
        <p:nvSpPr>
          <p:cNvPr id="13" name="TextBox 6">
            <a:extLst>
              <a:ext uri="{FF2B5EF4-FFF2-40B4-BE49-F238E27FC236}">
                <a16:creationId xmlns:a16="http://schemas.microsoft.com/office/drawing/2014/main" id="{C95D36FF-A574-DD2A-8E7C-956D56EACA2D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4</a:t>
            </a:r>
          </a:p>
        </p:txBody>
      </p:sp>
      <p:sp>
        <p:nvSpPr>
          <p:cNvPr id="14" name="TextBox 7">
            <a:extLst>
              <a:ext uri="{FF2B5EF4-FFF2-40B4-BE49-F238E27FC236}">
                <a16:creationId xmlns:a16="http://schemas.microsoft.com/office/drawing/2014/main" id="{BECE3D7D-FD03-8662-EABA-FAA21678F9FC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5" name="TextBox 5">
            <a:extLst>
              <a:ext uri="{FF2B5EF4-FFF2-40B4-BE49-F238E27FC236}">
                <a16:creationId xmlns:a16="http://schemas.microsoft.com/office/drawing/2014/main" id="{2A8DE278-C011-BCBB-3A00-EEB1A7126D4F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6" name="TextBox 6">
            <a:extLst>
              <a:ext uri="{FF2B5EF4-FFF2-40B4-BE49-F238E27FC236}">
                <a16:creationId xmlns:a16="http://schemas.microsoft.com/office/drawing/2014/main" id="{67048F71-1FA5-92AA-CD23-B36493BA5F50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7" name="TextBox 5">
            <a:extLst>
              <a:ext uri="{FF2B5EF4-FFF2-40B4-BE49-F238E27FC236}">
                <a16:creationId xmlns:a16="http://schemas.microsoft.com/office/drawing/2014/main" id="{42A10EF2-4538-4AB2-B927-783F44857828}"/>
              </a:ext>
            </a:extLst>
          </p:cNvPr>
          <p:cNvSpPr txBox="1"/>
          <p:nvPr/>
        </p:nvSpPr>
        <p:spPr>
          <a:xfrm>
            <a:off x="17559146" y="9859975"/>
            <a:ext cx="42291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spc="21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5</a:t>
            </a:r>
          </a:p>
        </p:txBody>
      </p:sp>
      <p:sp>
        <p:nvSpPr>
          <p:cNvPr id="18" name="TextBox 6">
            <a:extLst>
              <a:ext uri="{FF2B5EF4-FFF2-40B4-BE49-F238E27FC236}">
                <a16:creationId xmlns:a16="http://schemas.microsoft.com/office/drawing/2014/main" id="{3E7FE6DE-A9CA-F5B1-388A-C138C2A4E1B0}"/>
              </a:ext>
            </a:extLst>
          </p:cNvPr>
          <p:cNvSpPr txBox="1"/>
          <p:nvPr/>
        </p:nvSpPr>
        <p:spPr>
          <a:xfrm>
            <a:off x="251154" y="9859975"/>
            <a:ext cx="5584506" cy="352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lang="en-US" sz="2250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19" name="TextBox 12">
            <a:extLst>
              <a:ext uri="{FF2B5EF4-FFF2-40B4-BE49-F238E27FC236}">
                <a16:creationId xmlns:a16="http://schemas.microsoft.com/office/drawing/2014/main" id="{E43C2690-0F2E-EEDB-08C7-5104AB663006}"/>
              </a:ext>
            </a:extLst>
          </p:cNvPr>
          <p:cNvSpPr txBox="1"/>
          <p:nvPr/>
        </p:nvSpPr>
        <p:spPr>
          <a:xfrm>
            <a:off x="17559146" y="9850450"/>
            <a:ext cx="423000" cy="376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16"/>
              </a:lnSpc>
            </a:pPr>
            <a:r>
              <a:rPr lang="en-US" sz="2400" spc="22">
                <a:solidFill>
                  <a:srgbClr val="FFFFFF"/>
                </a:solidFill>
                <a:latin typeface="TT Rounds Condensed"/>
                <a:ea typeface="TT Rounds Condensed"/>
                <a:cs typeface="TT Rounds Condensed"/>
                <a:sym typeface="TT Rounds Condensed"/>
              </a:rPr>
              <a:t>2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1A609EB7-0892-12E2-29E9-8A9311D1CEE1}"/>
              </a:ext>
            </a:extLst>
          </p:cNvPr>
          <p:cNvSpPr txBox="1"/>
          <p:nvPr/>
        </p:nvSpPr>
        <p:spPr>
          <a:xfrm>
            <a:off x="251154" y="9841225"/>
            <a:ext cx="643259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1" name="TextBox 4">
            <a:extLst>
              <a:ext uri="{FF2B5EF4-FFF2-40B4-BE49-F238E27FC236}">
                <a16:creationId xmlns:a16="http://schemas.microsoft.com/office/drawing/2014/main" id="{C4DB3567-C258-E337-3762-506E26CDDBCA}"/>
              </a:ext>
            </a:extLst>
          </p:cNvPr>
          <p:cNvSpPr txBox="1"/>
          <p:nvPr/>
        </p:nvSpPr>
        <p:spPr>
          <a:xfrm>
            <a:off x="270204" y="9888550"/>
            <a:ext cx="17654400" cy="300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72"/>
              </a:lnSpc>
            </a:pPr>
            <a:r>
              <a:rPr lang="en-US" sz="1993" b="1" spc="18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	1</a:t>
            </a:r>
          </a:p>
        </p:txBody>
      </p:sp>
      <p:grpSp>
        <p:nvGrpSpPr>
          <p:cNvPr id="22" name="Group 8">
            <a:extLst>
              <a:ext uri="{FF2B5EF4-FFF2-40B4-BE49-F238E27FC236}">
                <a16:creationId xmlns:a16="http://schemas.microsoft.com/office/drawing/2014/main" id="{511CABA6-5CA2-D6E2-815E-8EE776C96940}"/>
              </a:ext>
            </a:extLst>
          </p:cNvPr>
          <p:cNvGrpSpPr/>
          <p:nvPr/>
        </p:nvGrpSpPr>
        <p:grpSpPr>
          <a:xfrm>
            <a:off x="0" y="9740646"/>
            <a:ext cx="18288000" cy="548638"/>
            <a:chOff x="0" y="0"/>
            <a:chExt cx="24384000" cy="731517"/>
          </a:xfrm>
        </p:grpSpPr>
        <p:sp>
          <p:nvSpPr>
            <p:cNvPr id="23" name="Freeform 9">
              <a:extLst>
                <a:ext uri="{FF2B5EF4-FFF2-40B4-BE49-F238E27FC236}">
                  <a16:creationId xmlns:a16="http://schemas.microsoft.com/office/drawing/2014/main" id="{25694FE9-3C97-AD1B-6AAD-CAE45B93C172}"/>
                </a:ext>
              </a:extLst>
            </p:cNvPr>
            <p:cNvSpPr/>
            <p:nvPr/>
          </p:nvSpPr>
          <p:spPr>
            <a:xfrm>
              <a:off x="0" y="0"/>
              <a:ext cx="24384000" cy="731520"/>
            </a:xfrm>
            <a:custGeom>
              <a:avLst/>
              <a:gdLst/>
              <a:ahLst/>
              <a:cxnLst/>
              <a:rect l="l" t="t" r="r" b="b"/>
              <a:pathLst>
                <a:path w="24384000" h="731520">
                  <a:moveTo>
                    <a:pt x="24384000" y="0"/>
                  </a:moveTo>
                  <a:lnTo>
                    <a:pt x="0" y="0"/>
                  </a:lnTo>
                  <a:lnTo>
                    <a:pt x="0" y="731520"/>
                  </a:lnTo>
                  <a:lnTo>
                    <a:pt x="24384000" y="731520"/>
                  </a:lnTo>
                  <a:lnTo>
                    <a:pt x="24384000" y="0"/>
                  </a:lnTo>
                  <a:close/>
                </a:path>
              </a:pathLst>
            </a:custGeom>
            <a:solidFill>
              <a:schemeClr val="accent3">
                <a:lumMod val="75000"/>
              </a:schemeClr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4" name="TextBox 11">
            <a:extLst>
              <a:ext uri="{FF2B5EF4-FFF2-40B4-BE49-F238E27FC236}">
                <a16:creationId xmlns:a16="http://schemas.microsoft.com/office/drawing/2014/main" id="{5EF57806-036D-2FAD-B76B-EA82973E2F4C}"/>
              </a:ext>
            </a:extLst>
          </p:cNvPr>
          <p:cNvSpPr txBox="1"/>
          <p:nvPr/>
        </p:nvSpPr>
        <p:spPr>
          <a:xfrm>
            <a:off x="270204" y="9846078"/>
            <a:ext cx="58116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 spc="22" dirty="0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VNU UET - Institute for Artificial Intelligence</a:t>
            </a:r>
          </a:p>
        </p:txBody>
      </p:sp>
      <p:sp>
        <p:nvSpPr>
          <p:cNvPr id="25" name="TextBox 12">
            <a:extLst>
              <a:ext uri="{FF2B5EF4-FFF2-40B4-BE49-F238E27FC236}">
                <a16:creationId xmlns:a16="http://schemas.microsoft.com/office/drawing/2014/main" id="{323AEF4D-0E91-770B-FDD8-3759CA153127}"/>
              </a:ext>
            </a:extLst>
          </p:cNvPr>
          <p:cNvSpPr txBox="1"/>
          <p:nvPr/>
        </p:nvSpPr>
        <p:spPr>
          <a:xfrm>
            <a:off x="17559146" y="9859975"/>
            <a:ext cx="423000" cy="3575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88"/>
              </a:lnSpc>
            </a:pPr>
            <a:r>
              <a:rPr lang="en-US" sz="2295" b="1" spc="21">
                <a:solidFill>
                  <a:srgbClr val="FFFFFF"/>
                </a:solidFill>
                <a:latin typeface="TT Rounds Condensed Bold"/>
                <a:ea typeface="TT Rounds Condensed Bold"/>
                <a:cs typeface="TT Rounds Condensed Bold"/>
                <a:sym typeface="TT Rounds Condensed Bold"/>
              </a:rPr>
              <a:t>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1066</TotalTime>
  <Words>2420</Words>
  <Application>Microsoft Office PowerPoint</Application>
  <PresentationFormat>Tùy chỉnh</PresentationFormat>
  <Paragraphs>383</Paragraphs>
  <Slides>19</Slides>
  <Notes>18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8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19</vt:i4>
      </vt:variant>
    </vt:vector>
  </HeadingPairs>
  <TitlesOfParts>
    <vt:vector size="28" baseType="lpstr">
      <vt:lpstr>Times New Roman</vt:lpstr>
      <vt:lpstr>Symbol</vt:lpstr>
      <vt:lpstr>Calibri</vt:lpstr>
      <vt:lpstr>Cambria Bold</vt:lpstr>
      <vt:lpstr>TT Rounds Condensed Bold</vt:lpstr>
      <vt:lpstr>Arial</vt:lpstr>
      <vt:lpstr>TT Rounds Condensed</vt:lpstr>
      <vt:lpstr>Segoe UI Black</vt:lpstr>
      <vt:lpstr>Office Theme</vt:lpstr>
      <vt:lpstr>Bản trình bày PowerPoint</vt:lpstr>
      <vt:lpstr>MỤC LỤC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  <vt:lpstr>Bản trình bày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Bigdata.pptx</dc:title>
  <dc:creator>minh minh</dc:creator>
  <cp:lastModifiedBy>minh minh</cp:lastModifiedBy>
  <cp:revision>5</cp:revision>
  <dcterms:created xsi:type="dcterms:W3CDTF">2006-08-16T00:00:00Z</dcterms:created>
  <dcterms:modified xsi:type="dcterms:W3CDTF">2025-12-14T19:28:14Z</dcterms:modified>
  <dc:identifier>DAGYq2251TM</dc:identifier>
</cp:coreProperties>
</file>