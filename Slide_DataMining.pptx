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67" r:id="rId3"/>
    <p:sldId id="291" r:id="rId4"/>
    <p:sldId id="303" r:id="rId5"/>
    <p:sldId id="318" r:id="rId6"/>
    <p:sldId id="260" r:id="rId7"/>
    <p:sldId id="307" r:id="rId8"/>
    <p:sldId id="319" r:id="rId9"/>
    <p:sldId id="309" r:id="rId10"/>
    <p:sldId id="310" r:id="rId11"/>
    <p:sldId id="311" r:id="rId12"/>
    <p:sldId id="320" r:id="rId13"/>
    <p:sldId id="321" r:id="rId14"/>
    <p:sldId id="322" r:id="rId15"/>
    <p:sldId id="317" r:id="rId16"/>
    <p:sldId id="287" r:id="rId17"/>
  </p:sldIdLst>
  <p:sldSz cx="18288000" cy="10287000"/>
  <p:notesSz cx="6858000" cy="9144000"/>
  <p:embeddedFontLst>
    <p:embeddedFont>
      <p:font typeface="Cambria Bold" panose="02040803050406030204" pitchFamily="18" charset="0"/>
      <p:bold r:id="rId19"/>
    </p:embeddedFont>
    <p:embeddedFont>
      <p:font typeface="Segoe UI Black" panose="020B0A02040204020203" pitchFamily="34" charset="0"/>
      <p:bold r:id="rId20"/>
      <p:boldItalic r:id="rId21"/>
    </p:embeddedFont>
    <p:embeddedFont>
      <p:font typeface="TT Rounds Condensed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1B77BF"/>
    <a:srgbClr val="00A651"/>
    <a:srgbClr val="2980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Màu chủ đề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hông có Kiểu, Lưới Bảng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Không có Kiểu, Không có Lưới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5033" autoAdjust="0"/>
  </p:normalViewPr>
  <p:slideViewPr>
    <p:cSldViewPr>
      <p:cViewPr varScale="1">
        <p:scale>
          <a:sx n="55" d="100"/>
          <a:sy n="55" d="100"/>
        </p:scale>
        <p:origin x="658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19.12.2025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b8a5aef315_1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9" name="Google Shape;1219;gb8a5aef315_1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6CB7F-2BAE-76F9-8116-8443A1912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D219D77-62C9-7177-3079-DDFAF0C763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179F82-791A-0062-79CA-16ED509F606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5358487-F8D2-10FD-16AA-B501ED31EB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019F80B-C248-4F18-87F6-70808FAD52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04546-75EB-EF00-EDE6-93FB5E6FAA5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34D763-72AB-C04F-9226-A9B12D0743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791683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2C504-2C56-9CD9-A03B-54F069123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3E4731D-3A35-71F0-D1B5-687659DC32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8CBED4-0289-D435-B131-426B0E28923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7EE241E-43EB-76B6-D9E4-66DDBA3AEA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C8002F9-D95E-4A8D-EB4C-21A6A483B6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2C918E-46AD-F42B-D507-784DC9902CB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5BBE1-13E5-7507-3902-3B94D53EBF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76374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948AE-1E1A-9B69-CAC7-2BBABFDEC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69DF98-92C5-F072-B8E0-D42831C45F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249FF1-5689-CF2E-FDC4-EE39AE9082D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F0E01EA-9572-DBE0-D2C6-A3FACD8C92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C6D5F44-2756-846F-513A-598EFFDF1E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C66160-6E10-2827-31BE-C08C2019BF7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DA1ADD-9DE5-2CFA-0400-8461913C1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323591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giới thiệu về các language modeling (RNN, LSTM,...) và giới thiệu về kiến trúc mới Transformers, giới thiệu về experiment (task dịch máy EN-GER và EN-FR, cho thấy hiệu quả của Transformers và các model khác), giới thiệu về application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34AA7-7AB8-9A0A-C16E-FA5A3DF61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229311-CC9E-81AA-9833-904C15B27E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6189CE-49DD-3E18-B1F5-98BD2B0BCE6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FCAE320-AB84-B7E0-F840-677D9AED1C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8735779-829C-A011-2090-7107A2BC77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giới thiệu về các language modeling (RNN, LSTM,...) và giới thiệu về kiến trúc mới Transformers, giới thiệu về experiment (task dịch máy EN-GER và EN-FR, cho thấy hiệu quả của Transformers và các model khác), giới thiệu về application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DE6B6C-6751-E928-0539-591975EB54D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F185BD-A59E-F702-C598-AF5B8102ED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7104055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1715E-CD6F-F78C-FF91-CF9982BA2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2758CD-6569-5D1C-4B0E-8ED9C101A5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179107-5C9A-01F9-925C-00A2BB2141A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2EDD2B6-B905-0450-0B69-80CFB0E0BC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B0AE20A-4595-49A1-BC4B-E5C23D9CEE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38A17-82C7-AF7E-0D28-04D0F5D27F7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BAE4A-AB85-23AE-1864-2700B82705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685634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842FE-FC40-37F6-8358-1CC7A5A0A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E52FA6-5042-43AA-2389-DBE091509C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BF67EB-01A4-0172-AFCB-1B08700F922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664656B-E43E-6160-68DC-1581FC3AEA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A4C76E6-13C4-D385-09C2-70A39DC194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giới thiệu về các language modeling (RNN, LSTM,...) và giới thiệu về kiến trúc mới Transformers, giới thiệu về experiment (task dịch máy EN-GER và EN-FR, cho thấy hiệu quả của Transformers và các model khác), giới thiệu về application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872B06-A9F8-D4F2-9679-806BD10D25C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A929FD-E79C-1D17-1B8B-902FABBE6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1440466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359E7-D014-58EF-8172-E304AA457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99590DD-AE26-BCA6-8CDF-455E79CAE9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103CB8-2400-ED3D-1AFF-79449CA48F0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017CCD8-4F44-B230-FB93-EDCAF47777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EB3E046-CC54-1CA8-E46D-3AF345693E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giới thiệu về các language modeling (RNN, LSTM,...) và giới thiệu về kiến trúc mới Transformers, giới thiệu về experiment (task dịch máy EN-GER và EN-FR, cho thấy hiệu quả của Transformers và các model khác), giới thiệu về application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11AD0-724F-C020-5D56-147BB6D7B74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03FB30-5986-E997-4235-49946E86B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777037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A489-0C29-9135-779B-6A83FA46B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4F53E0-E450-5575-60FB-4CFE814C3D1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895B72-6C20-7FC4-687A-79D43D73732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93E9927-40F9-B3E7-D129-FE976B3683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F4D89C8-44F8-B5AF-2F89-7BF1E68E85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giới thiệu về các language modeling (RNN, LSTM,...) và giới thiệu về kiến trúc mới Transformers, giới thiệu về experiment (task dịch máy EN-GER và EN-FR, cho thấy hiệu quả của Transformers và các model khác), giới thiệu về application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752A6A-E290-180F-EBBA-C97177F9F7E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7B6981-79A5-D48D-1C26-B794821C0B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49225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3BFA7-F7F7-0434-7F99-CD4EF7AD7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2BDE1FE-C22A-B5B7-A504-33A4EA14F4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1E7737-AA5B-C1E0-1331-6CB638D3654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0BBCC61-D162-5A2A-14B2-45EAE478D8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3B93E0F-DEF1-02BE-FF66-0A3259FD2B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315E4-2835-58C5-4150-6B552F38388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1BF659-89FC-D065-ACA5-2B232EA55A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667414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AF454-B2CE-BCC5-3B7F-5CF6A1091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136ADFA-73A5-0B82-6539-7C7EBBC78A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084363-E573-134F-9E8F-41196FAAD8A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C0D9CA6-9679-9E9A-E4C7-CB85A35546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BB882E6-883D-D94C-479D-7CF1A50394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giới thiệu về các language modeling (RNN, LSTM,...) và giới thiệu về kiến trúc mới Transformers, giới thiệu về experiment (task dịch máy EN-GER và EN-FR, cho thấy hiệu quả của Transformers và các model khác), giới thiệu về application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65C084-B9A9-B050-3A5A-097616B63E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E71145-9EC0-C800-2E22-DB7531192D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721830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80723-6526-4100-6FD1-C1F6AA937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B9F4DBE-786B-8EE9-821D-4AB5A78934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7029D7-1F28-9B0D-FEC9-064C6B117AC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E5FF23F-EC7D-153F-B3DE-3146FE947D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F3F11D1-778C-6E07-F61B-3E8CCA5A4E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EF80D1-C360-55F5-7DEA-33A78E3AC43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8B0F7-C667-B11B-DD43-59A6E3A6A2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441765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9CE75-9314-A32D-1783-7A82E508D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1E7F91F-3FC8-105B-FF0C-66700660F3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56B891-7A90-8FB3-94E1-9B053D8B244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E4F5E4A-2119-05AD-F027-1994229D7E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1F4F3D4-6FB1-19B2-BE37-594305B5F4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giới thiệu về các language modeling (RNN, LSTM,...) và giới thiệu về kiến trúc mới Transformers, giới thiệu về experiment (task dịch máy EN-GER và EN-FR, cho thấy hiệu quả của Transformers và các model khác), giới thiệu về application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66F11-25AF-DB03-A5AF-2C47B34E565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95961-B648-66B7-EC6B-412E529D0A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89286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3">
  <p:cSld name="Title and four columns 3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5"/>
          <p:cNvSpPr txBox="1">
            <a:spLocks noGrp="1"/>
          </p:cNvSpPr>
          <p:nvPr>
            <p:ph type="title"/>
          </p:nvPr>
        </p:nvSpPr>
        <p:spPr>
          <a:xfrm>
            <a:off x="1448100" y="695650"/>
            <a:ext cx="15391800" cy="96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25"/>
          <p:cNvSpPr txBox="1">
            <a:spLocks noGrp="1"/>
          </p:cNvSpPr>
          <p:nvPr>
            <p:ph type="subTitle" idx="1"/>
          </p:nvPr>
        </p:nvSpPr>
        <p:spPr>
          <a:xfrm>
            <a:off x="4690372" y="3490200"/>
            <a:ext cx="3750600" cy="6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accen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84" name="Google Shape;284;p25"/>
          <p:cNvSpPr txBox="1">
            <a:spLocks noGrp="1"/>
          </p:cNvSpPr>
          <p:nvPr>
            <p:ph type="subTitle" idx="2"/>
          </p:nvPr>
        </p:nvSpPr>
        <p:spPr>
          <a:xfrm>
            <a:off x="4690350" y="4299600"/>
            <a:ext cx="3750600" cy="10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 lvl="1" algn="l" rtl="0">
              <a:spcBef>
                <a:spcPts val="0"/>
              </a:spcBef>
              <a:spcAft>
                <a:spcPts val="0"/>
              </a:spcAft>
              <a:buNone/>
              <a:defRPr sz="3200"/>
            </a:lvl2pPr>
            <a:lvl3pPr lvl="2" algn="l" rtl="0">
              <a:spcBef>
                <a:spcPts val="0"/>
              </a:spcBef>
              <a:spcAft>
                <a:spcPts val="0"/>
              </a:spcAft>
              <a:buNone/>
              <a:defRPr sz="3200"/>
            </a:lvl3pPr>
            <a:lvl4pPr lvl="3" algn="l" rtl="0">
              <a:spcBef>
                <a:spcPts val="0"/>
              </a:spcBef>
              <a:spcAft>
                <a:spcPts val="0"/>
              </a:spcAft>
              <a:buNone/>
              <a:defRPr sz="3200"/>
            </a:lvl4pPr>
            <a:lvl5pPr lvl="4" algn="l" rtl="0">
              <a:spcBef>
                <a:spcPts val="0"/>
              </a:spcBef>
              <a:spcAft>
                <a:spcPts val="0"/>
              </a:spcAft>
              <a:buNone/>
              <a:defRPr sz="3200"/>
            </a:lvl5pPr>
            <a:lvl6pPr lvl="5" algn="l" rtl="0">
              <a:spcBef>
                <a:spcPts val="0"/>
              </a:spcBef>
              <a:spcAft>
                <a:spcPts val="0"/>
              </a:spcAft>
              <a:buNone/>
              <a:defRPr sz="3200"/>
            </a:lvl6pPr>
            <a:lvl7pPr lvl="6" algn="l" rtl="0">
              <a:spcBef>
                <a:spcPts val="0"/>
              </a:spcBef>
              <a:spcAft>
                <a:spcPts val="0"/>
              </a:spcAft>
              <a:buNone/>
              <a:defRPr sz="3200"/>
            </a:lvl7pPr>
            <a:lvl8pPr lvl="7" algn="l" rtl="0">
              <a:spcBef>
                <a:spcPts val="0"/>
              </a:spcBef>
              <a:spcAft>
                <a:spcPts val="0"/>
              </a:spcAft>
              <a:buNone/>
              <a:defRPr sz="3200"/>
            </a:lvl8pPr>
            <a:lvl9pPr lvl="8" algn="l" rtl="0">
              <a:spcBef>
                <a:spcPts val="0"/>
              </a:spcBef>
              <a:spcAft>
                <a:spcPts val="0"/>
              </a:spcAft>
              <a:buNone/>
              <a:defRPr sz="3200"/>
            </a:lvl9pPr>
          </a:lstStyle>
          <a:p>
            <a:endParaRPr/>
          </a:p>
        </p:txBody>
      </p:sp>
      <p:sp>
        <p:nvSpPr>
          <p:cNvPr id="285" name="Google Shape;285;p25"/>
          <p:cNvSpPr txBox="1">
            <a:spLocks noGrp="1"/>
          </p:cNvSpPr>
          <p:nvPr>
            <p:ph type="subTitle" idx="3"/>
          </p:nvPr>
        </p:nvSpPr>
        <p:spPr>
          <a:xfrm>
            <a:off x="4690348" y="6633450"/>
            <a:ext cx="3750600" cy="6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accen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86" name="Google Shape;286;p25"/>
          <p:cNvSpPr txBox="1">
            <a:spLocks noGrp="1"/>
          </p:cNvSpPr>
          <p:nvPr>
            <p:ph type="subTitle" idx="4"/>
          </p:nvPr>
        </p:nvSpPr>
        <p:spPr>
          <a:xfrm>
            <a:off x="4690376" y="7442850"/>
            <a:ext cx="3750600" cy="10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 lvl="1" algn="l" rtl="0">
              <a:spcBef>
                <a:spcPts val="0"/>
              </a:spcBef>
              <a:spcAft>
                <a:spcPts val="0"/>
              </a:spcAft>
              <a:buNone/>
              <a:defRPr sz="3200"/>
            </a:lvl2pPr>
            <a:lvl3pPr lvl="2" algn="l" rtl="0">
              <a:spcBef>
                <a:spcPts val="0"/>
              </a:spcBef>
              <a:spcAft>
                <a:spcPts val="0"/>
              </a:spcAft>
              <a:buNone/>
              <a:defRPr sz="3200"/>
            </a:lvl3pPr>
            <a:lvl4pPr lvl="3" algn="l" rtl="0">
              <a:spcBef>
                <a:spcPts val="0"/>
              </a:spcBef>
              <a:spcAft>
                <a:spcPts val="0"/>
              </a:spcAft>
              <a:buNone/>
              <a:defRPr sz="3200"/>
            </a:lvl4pPr>
            <a:lvl5pPr lvl="4" algn="l" rtl="0">
              <a:spcBef>
                <a:spcPts val="0"/>
              </a:spcBef>
              <a:spcAft>
                <a:spcPts val="0"/>
              </a:spcAft>
              <a:buNone/>
              <a:defRPr sz="3200"/>
            </a:lvl5pPr>
            <a:lvl6pPr lvl="5" algn="l" rtl="0">
              <a:spcBef>
                <a:spcPts val="0"/>
              </a:spcBef>
              <a:spcAft>
                <a:spcPts val="0"/>
              </a:spcAft>
              <a:buNone/>
              <a:defRPr sz="3200"/>
            </a:lvl6pPr>
            <a:lvl7pPr lvl="6" algn="l" rtl="0">
              <a:spcBef>
                <a:spcPts val="0"/>
              </a:spcBef>
              <a:spcAft>
                <a:spcPts val="0"/>
              </a:spcAft>
              <a:buNone/>
              <a:defRPr sz="3200"/>
            </a:lvl7pPr>
            <a:lvl8pPr lvl="7" algn="l" rtl="0">
              <a:spcBef>
                <a:spcPts val="0"/>
              </a:spcBef>
              <a:spcAft>
                <a:spcPts val="0"/>
              </a:spcAft>
              <a:buNone/>
              <a:defRPr sz="3200"/>
            </a:lvl8pPr>
            <a:lvl9pPr lvl="8" algn="l" rtl="0">
              <a:spcBef>
                <a:spcPts val="0"/>
              </a:spcBef>
              <a:spcAft>
                <a:spcPts val="0"/>
              </a:spcAft>
              <a:buNone/>
              <a:defRPr sz="3200"/>
            </a:lvl9pPr>
          </a:lstStyle>
          <a:p>
            <a:endParaRPr/>
          </a:p>
        </p:txBody>
      </p:sp>
      <p:sp>
        <p:nvSpPr>
          <p:cNvPr id="287" name="Google Shape;287;p25"/>
          <p:cNvSpPr txBox="1">
            <a:spLocks noGrp="1"/>
          </p:cNvSpPr>
          <p:nvPr>
            <p:ph type="subTitle" idx="5"/>
          </p:nvPr>
        </p:nvSpPr>
        <p:spPr>
          <a:xfrm>
            <a:off x="12685476" y="3490200"/>
            <a:ext cx="3750600" cy="6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accen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88" name="Google Shape;288;p25"/>
          <p:cNvSpPr txBox="1">
            <a:spLocks noGrp="1"/>
          </p:cNvSpPr>
          <p:nvPr>
            <p:ph type="subTitle" idx="6"/>
          </p:nvPr>
        </p:nvSpPr>
        <p:spPr>
          <a:xfrm>
            <a:off x="12685494" y="4299600"/>
            <a:ext cx="3750600" cy="10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 lvl="1" algn="l" rtl="0">
              <a:spcBef>
                <a:spcPts val="0"/>
              </a:spcBef>
              <a:spcAft>
                <a:spcPts val="0"/>
              </a:spcAft>
              <a:buNone/>
              <a:defRPr sz="3200"/>
            </a:lvl2pPr>
            <a:lvl3pPr lvl="2" algn="l" rtl="0">
              <a:spcBef>
                <a:spcPts val="0"/>
              </a:spcBef>
              <a:spcAft>
                <a:spcPts val="0"/>
              </a:spcAft>
              <a:buNone/>
              <a:defRPr sz="3200"/>
            </a:lvl3pPr>
            <a:lvl4pPr lvl="3" algn="l" rtl="0">
              <a:spcBef>
                <a:spcPts val="0"/>
              </a:spcBef>
              <a:spcAft>
                <a:spcPts val="0"/>
              </a:spcAft>
              <a:buNone/>
              <a:defRPr sz="3200"/>
            </a:lvl4pPr>
            <a:lvl5pPr lvl="4" algn="l" rtl="0">
              <a:spcBef>
                <a:spcPts val="0"/>
              </a:spcBef>
              <a:spcAft>
                <a:spcPts val="0"/>
              </a:spcAft>
              <a:buNone/>
              <a:defRPr sz="3200"/>
            </a:lvl5pPr>
            <a:lvl6pPr lvl="5" algn="l" rtl="0">
              <a:spcBef>
                <a:spcPts val="0"/>
              </a:spcBef>
              <a:spcAft>
                <a:spcPts val="0"/>
              </a:spcAft>
              <a:buNone/>
              <a:defRPr sz="3200"/>
            </a:lvl6pPr>
            <a:lvl7pPr lvl="6" algn="l" rtl="0">
              <a:spcBef>
                <a:spcPts val="0"/>
              </a:spcBef>
              <a:spcAft>
                <a:spcPts val="0"/>
              </a:spcAft>
              <a:buNone/>
              <a:defRPr sz="3200"/>
            </a:lvl7pPr>
            <a:lvl8pPr lvl="7" algn="l" rtl="0">
              <a:spcBef>
                <a:spcPts val="0"/>
              </a:spcBef>
              <a:spcAft>
                <a:spcPts val="0"/>
              </a:spcAft>
              <a:buNone/>
              <a:defRPr sz="3200"/>
            </a:lvl8pPr>
            <a:lvl9pPr lvl="8" algn="l" rtl="0">
              <a:spcBef>
                <a:spcPts val="0"/>
              </a:spcBef>
              <a:spcAft>
                <a:spcPts val="0"/>
              </a:spcAft>
              <a:buNone/>
              <a:defRPr sz="3200"/>
            </a:lvl9pPr>
          </a:lstStyle>
          <a:p>
            <a:endParaRPr/>
          </a:p>
        </p:txBody>
      </p:sp>
      <p:sp>
        <p:nvSpPr>
          <p:cNvPr id="289" name="Google Shape;289;p25"/>
          <p:cNvSpPr/>
          <p:nvPr/>
        </p:nvSpPr>
        <p:spPr>
          <a:xfrm rot="-5400000" flipH="1">
            <a:off x="519148" y="-440581"/>
            <a:ext cx="1179608" cy="2315122"/>
          </a:xfrm>
          <a:custGeom>
            <a:avLst/>
            <a:gdLst/>
            <a:ahLst/>
            <a:cxnLst/>
            <a:rect l="l" t="t" r="r" b="b"/>
            <a:pathLst>
              <a:path w="36543" h="71720" extrusionOk="0">
                <a:moveTo>
                  <a:pt x="36543" y="1"/>
                </a:moveTo>
                <a:lnTo>
                  <a:pt x="27532" y="572"/>
                </a:lnTo>
                <a:cubicBezTo>
                  <a:pt x="27532" y="572"/>
                  <a:pt x="14721" y="15827"/>
                  <a:pt x="8619" y="32260"/>
                </a:cubicBezTo>
                <a:cubicBezTo>
                  <a:pt x="1" y="55349"/>
                  <a:pt x="10314" y="70782"/>
                  <a:pt x="16755" y="71639"/>
                </a:cubicBezTo>
                <a:cubicBezTo>
                  <a:pt x="17165" y="71692"/>
                  <a:pt x="17569" y="71719"/>
                  <a:pt x="17964" y="71719"/>
                </a:cubicBezTo>
                <a:cubicBezTo>
                  <a:pt x="23788" y="71719"/>
                  <a:pt x="27796" y="65775"/>
                  <a:pt x="25373" y="49300"/>
                </a:cubicBezTo>
                <a:cubicBezTo>
                  <a:pt x="23857" y="38933"/>
                  <a:pt x="25284" y="19592"/>
                  <a:pt x="36543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</p:txBody>
      </p:sp>
      <p:sp>
        <p:nvSpPr>
          <p:cNvPr id="290" name="Google Shape;290;p25"/>
          <p:cNvSpPr/>
          <p:nvPr/>
        </p:nvSpPr>
        <p:spPr>
          <a:xfrm rot="-5400000" flipH="1">
            <a:off x="831168" y="-196072"/>
            <a:ext cx="629556" cy="1937220"/>
          </a:xfrm>
          <a:custGeom>
            <a:avLst/>
            <a:gdLst/>
            <a:ahLst/>
            <a:cxnLst/>
            <a:rect l="l" t="t" r="r" b="b"/>
            <a:pathLst>
              <a:path w="19503" h="60013" extrusionOk="0">
                <a:moveTo>
                  <a:pt x="18890" y="1"/>
                </a:moveTo>
                <a:cubicBezTo>
                  <a:pt x="18719" y="1"/>
                  <a:pt x="18554" y="76"/>
                  <a:pt x="18450" y="227"/>
                </a:cubicBezTo>
                <a:cubicBezTo>
                  <a:pt x="4319" y="18801"/>
                  <a:pt x="1" y="45512"/>
                  <a:pt x="4140" y="59554"/>
                </a:cubicBezTo>
                <a:cubicBezTo>
                  <a:pt x="4140" y="59589"/>
                  <a:pt x="4158" y="59643"/>
                  <a:pt x="4176" y="59679"/>
                </a:cubicBezTo>
                <a:cubicBezTo>
                  <a:pt x="4255" y="59889"/>
                  <a:pt x="4450" y="60012"/>
                  <a:pt x="4662" y="60012"/>
                </a:cubicBezTo>
                <a:cubicBezTo>
                  <a:pt x="4737" y="60012"/>
                  <a:pt x="4815" y="59997"/>
                  <a:pt x="4890" y="59964"/>
                </a:cubicBezTo>
                <a:cubicBezTo>
                  <a:pt x="5157" y="59857"/>
                  <a:pt x="5300" y="59536"/>
                  <a:pt x="5175" y="59250"/>
                </a:cubicBezTo>
                <a:cubicBezTo>
                  <a:pt x="1143" y="45440"/>
                  <a:pt x="5389" y="19176"/>
                  <a:pt x="19324" y="869"/>
                </a:cubicBezTo>
                <a:cubicBezTo>
                  <a:pt x="19503" y="637"/>
                  <a:pt x="19449" y="280"/>
                  <a:pt x="19217" y="102"/>
                </a:cubicBezTo>
                <a:lnTo>
                  <a:pt x="19164" y="66"/>
                </a:lnTo>
                <a:cubicBezTo>
                  <a:pt x="19076" y="23"/>
                  <a:pt x="18982" y="1"/>
                  <a:pt x="1889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</p:txBody>
      </p:sp>
      <p:sp>
        <p:nvSpPr>
          <p:cNvPr id="291" name="Google Shape;291;p25"/>
          <p:cNvSpPr/>
          <p:nvPr/>
        </p:nvSpPr>
        <p:spPr>
          <a:xfrm rot="-5400000" flipH="1">
            <a:off x="150240" y="493890"/>
            <a:ext cx="1487752" cy="1978732"/>
          </a:xfrm>
          <a:custGeom>
            <a:avLst/>
            <a:gdLst/>
            <a:ahLst/>
            <a:cxnLst/>
            <a:rect l="l" t="t" r="r" b="b"/>
            <a:pathLst>
              <a:path w="46089" h="61299" extrusionOk="0">
                <a:moveTo>
                  <a:pt x="41244" y="0"/>
                </a:moveTo>
                <a:cubicBezTo>
                  <a:pt x="41241" y="0"/>
                  <a:pt x="41238" y="0"/>
                  <a:pt x="41235" y="0"/>
                </a:cubicBezTo>
                <a:cubicBezTo>
                  <a:pt x="41021" y="0"/>
                  <a:pt x="17183" y="1499"/>
                  <a:pt x="17183" y="1517"/>
                </a:cubicBezTo>
                <a:cubicBezTo>
                  <a:pt x="14899" y="2677"/>
                  <a:pt x="12705" y="3979"/>
                  <a:pt x="10581" y="5407"/>
                </a:cubicBezTo>
                <a:cubicBezTo>
                  <a:pt x="8601" y="6852"/>
                  <a:pt x="6906" y="8636"/>
                  <a:pt x="5568" y="10688"/>
                </a:cubicBezTo>
                <a:cubicBezTo>
                  <a:pt x="4711" y="11866"/>
                  <a:pt x="4247" y="13275"/>
                  <a:pt x="4229" y="14721"/>
                </a:cubicBezTo>
                <a:cubicBezTo>
                  <a:pt x="4372" y="18093"/>
                  <a:pt x="6442" y="20662"/>
                  <a:pt x="5800" y="23963"/>
                </a:cubicBezTo>
                <a:cubicBezTo>
                  <a:pt x="5068" y="27692"/>
                  <a:pt x="268" y="29780"/>
                  <a:pt x="90" y="33580"/>
                </a:cubicBezTo>
                <a:cubicBezTo>
                  <a:pt x="1" y="35507"/>
                  <a:pt x="1178" y="37274"/>
                  <a:pt x="2570" y="38612"/>
                </a:cubicBezTo>
                <a:cubicBezTo>
                  <a:pt x="4051" y="39825"/>
                  <a:pt x="5461" y="41146"/>
                  <a:pt x="6781" y="42555"/>
                </a:cubicBezTo>
                <a:cubicBezTo>
                  <a:pt x="9886" y="46445"/>
                  <a:pt x="9529" y="52172"/>
                  <a:pt x="12152" y="56419"/>
                </a:cubicBezTo>
                <a:cubicBezTo>
                  <a:pt x="12901" y="57793"/>
                  <a:pt x="13954" y="59006"/>
                  <a:pt x="15220" y="59934"/>
                </a:cubicBezTo>
                <a:cubicBezTo>
                  <a:pt x="16378" y="60652"/>
                  <a:pt x="17717" y="61298"/>
                  <a:pt x="19058" y="61298"/>
                </a:cubicBezTo>
                <a:cubicBezTo>
                  <a:pt x="19350" y="61298"/>
                  <a:pt x="19641" y="61268"/>
                  <a:pt x="19931" y="61201"/>
                </a:cubicBezTo>
                <a:cubicBezTo>
                  <a:pt x="21911" y="60737"/>
                  <a:pt x="23160" y="58703"/>
                  <a:pt x="23517" y="56686"/>
                </a:cubicBezTo>
                <a:cubicBezTo>
                  <a:pt x="23892" y="54688"/>
                  <a:pt x="23571" y="52618"/>
                  <a:pt x="23607" y="50602"/>
                </a:cubicBezTo>
                <a:cubicBezTo>
                  <a:pt x="23589" y="49639"/>
                  <a:pt x="23749" y="48693"/>
                  <a:pt x="24106" y="47819"/>
                </a:cubicBezTo>
                <a:cubicBezTo>
                  <a:pt x="24820" y="46445"/>
                  <a:pt x="25997" y="45374"/>
                  <a:pt x="27407" y="44768"/>
                </a:cubicBezTo>
                <a:cubicBezTo>
                  <a:pt x="29316" y="43822"/>
                  <a:pt x="31386" y="43304"/>
                  <a:pt x="33349" y="42484"/>
                </a:cubicBezTo>
                <a:cubicBezTo>
                  <a:pt x="35365" y="41806"/>
                  <a:pt x="37113" y="40450"/>
                  <a:pt x="38273" y="38665"/>
                </a:cubicBezTo>
                <a:cubicBezTo>
                  <a:pt x="39629" y="36274"/>
                  <a:pt x="38773" y="33491"/>
                  <a:pt x="37756" y="31154"/>
                </a:cubicBezTo>
                <a:cubicBezTo>
                  <a:pt x="36810" y="29048"/>
                  <a:pt x="35829" y="26657"/>
                  <a:pt x="36703" y="24534"/>
                </a:cubicBezTo>
                <a:cubicBezTo>
                  <a:pt x="37203" y="23499"/>
                  <a:pt x="37898" y="22571"/>
                  <a:pt x="38773" y="21822"/>
                </a:cubicBezTo>
                <a:cubicBezTo>
                  <a:pt x="39594" y="21019"/>
                  <a:pt x="40414" y="20198"/>
                  <a:pt x="41253" y="19395"/>
                </a:cubicBezTo>
                <a:cubicBezTo>
                  <a:pt x="42109" y="18575"/>
                  <a:pt x="42912" y="17700"/>
                  <a:pt x="43644" y="16790"/>
                </a:cubicBezTo>
                <a:cubicBezTo>
                  <a:pt x="45036" y="15042"/>
                  <a:pt x="45856" y="12918"/>
                  <a:pt x="45981" y="10688"/>
                </a:cubicBezTo>
                <a:cubicBezTo>
                  <a:pt x="46088" y="8725"/>
                  <a:pt x="45678" y="6763"/>
                  <a:pt x="44821" y="4996"/>
                </a:cubicBezTo>
                <a:cubicBezTo>
                  <a:pt x="44305" y="3982"/>
                  <a:pt x="42634" y="0"/>
                  <a:pt x="4124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</p:txBody>
      </p:sp>
      <p:sp>
        <p:nvSpPr>
          <p:cNvPr id="292" name="Google Shape;292;p25"/>
          <p:cNvSpPr/>
          <p:nvPr/>
        </p:nvSpPr>
        <p:spPr>
          <a:xfrm rot="-5400000" flipH="1">
            <a:off x="553305" y="502590"/>
            <a:ext cx="498822" cy="1785600"/>
          </a:xfrm>
          <a:custGeom>
            <a:avLst/>
            <a:gdLst/>
            <a:ahLst/>
            <a:cxnLst/>
            <a:rect l="l" t="t" r="r" b="b"/>
            <a:pathLst>
              <a:path w="15453" h="55316" extrusionOk="0">
                <a:moveTo>
                  <a:pt x="14832" y="0"/>
                </a:moveTo>
                <a:cubicBezTo>
                  <a:pt x="14647" y="0"/>
                  <a:pt x="14470" y="91"/>
                  <a:pt x="14364" y="269"/>
                </a:cubicBezTo>
                <a:cubicBezTo>
                  <a:pt x="2838" y="18879"/>
                  <a:pt x="1" y="45054"/>
                  <a:pt x="3105" y="54903"/>
                </a:cubicBezTo>
                <a:cubicBezTo>
                  <a:pt x="3105" y="54921"/>
                  <a:pt x="3123" y="54938"/>
                  <a:pt x="3123" y="54974"/>
                </a:cubicBezTo>
                <a:cubicBezTo>
                  <a:pt x="3204" y="55191"/>
                  <a:pt x="3410" y="55315"/>
                  <a:pt x="3629" y="55315"/>
                </a:cubicBezTo>
                <a:cubicBezTo>
                  <a:pt x="3698" y="55315"/>
                  <a:pt x="3768" y="55303"/>
                  <a:pt x="3837" y="55277"/>
                </a:cubicBezTo>
                <a:cubicBezTo>
                  <a:pt x="4104" y="55170"/>
                  <a:pt x="4247" y="54867"/>
                  <a:pt x="4140" y="54582"/>
                </a:cubicBezTo>
                <a:cubicBezTo>
                  <a:pt x="1071" y="44964"/>
                  <a:pt x="3962" y="19200"/>
                  <a:pt x="15292" y="822"/>
                </a:cubicBezTo>
                <a:cubicBezTo>
                  <a:pt x="15452" y="572"/>
                  <a:pt x="15363" y="233"/>
                  <a:pt x="15113" y="72"/>
                </a:cubicBezTo>
                <a:cubicBezTo>
                  <a:pt x="15023" y="24"/>
                  <a:pt x="14926" y="0"/>
                  <a:pt x="1483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</p:txBody>
      </p:sp>
      <p:sp>
        <p:nvSpPr>
          <p:cNvPr id="293" name="Google Shape;293;p25"/>
          <p:cNvSpPr/>
          <p:nvPr/>
        </p:nvSpPr>
        <p:spPr>
          <a:xfrm rot="8320551" flipH="1">
            <a:off x="15908747" y="142718"/>
            <a:ext cx="2154986" cy="2068892"/>
          </a:xfrm>
          <a:custGeom>
            <a:avLst/>
            <a:gdLst/>
            <a:ahLst/>
            <a:cxnLst/>
            <a:rect l="l" t="t" r="r" b="b"/>
            <a:pathLst>
              <a:path w="60398" h="57985" extrusionOk="0">
                <a:moveTo>
                  <a:pt x="54331" y="0"/>
                </a:moveTo>
                <a:cubicBezTo>
                  <a:pt x="54331" y="0"/>
                  <a:pt x="45535" y="11687"/>
                  <a:pt x="35507" y="23820"/>
                </a:cubicBezTo>
                <a:cubicBezTo>
                  <a:pt x="25479" y="35935"/>
                  <a:pt x="0" y="44696"/>
                  <a:pt x="10599" y="54742"/>
                </a:cubicBezTo>
                <a:cubicBezTo>
                  <a:pt x="12977" y="56996"/>
                  <a:pt x="15775" y="57984"/>
                  <a:pt x="18781" y="57984"/>
                </a:cubicBezTo>
                <a:cubicBezTo>
                  <a:pt x="29194" y="57984"/>
                  <a:pt x="42112" y="46129"/>
                  <a:pt x="48800" y="33973"/>
                </a:cubicBezTo>
                <a:cubicBezTo>
                  <a:pt x="54920" y="22821"/>
                  <a:pt x="60398" y="7905"/>
                  <a:pt x="60398" y="7905"/>
                </a:cubicBezTo>
                <a:lnTo>
                  <a:pt x="5433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</p:txBody>
      </p:sp>
      <p:sp>
        <p:nvSpPr>
          <p:cNvPr id="294" name="Google Shape;294;p25"/>
          <p:cNvSpPr/>
          <p:nvPr/>
        </p:nvSpPr>
        <p:spPr>
          <a:xfrm rot="8320551" flipH="1">
            <a:off x="16448807" y="190574"/>
            <a:ext cx="1490986" cy="1737712"/>
          </a:xfrm>
          <a:custGeom>
            <a:avLst/>
            <a:gdLst/>
            <a:ahLst/>
            <a:cxnLst/>
            <a:rect l="l" t="t" r="r" b="b"/>
            <a:pathLst>
              <a:path w="41788" h="48703" extrusionOk="0">
                <a:moveTo>
                  <a:pt x="41262" y="1"/>
                </a:moveTo>
                <a:cubicBezTo>
                  <a:pt x="41081" y="1"/>
                  <a:pt x="40906" y="105"/>
                  <a:pt x="40824" y="282"/>
                </a:cubicBezTo>
                <a:cubicBezTo>
                  <a:pt x="26514" y="37163"/>
                  <a:pt x="607" y="47708"/>
                  <a:pt x="357" y="47815"/>
                </a:cubicBezTo>
                <a:cubicBezTo>
                  <a:pt x="125" y="47904"/>
                  <a:pt x="0" y="48154"/>
                  <a:pt x="89" y="48386"/>
                </a:cubicBezTo>
                <a:cubicBezTo>
                  <a:pt x="89" y="48404"/>
                  <a:pt x="89" y="48404"/>
                  <a:pt x="89" y="48404"/>
                </a:cubicBezTo>
                <a:cubicBezTo>
                  <a:pt x="158" y="48595"/>
                  <a:pt x="330" y="48702"/>
                  <a:pt x="512" y="48702"/>
                </a:cubicBezTo>
                <a:cubicBezTo>
                  <a:pt x="567" y="48702"/>
                  <a:pt x="624" y="48692"/>
                  <a:pt x="678" y="48671"/>
                </a:cubicBezTo>
                <a:lnTo>
                  <a:pt x="696" y="48671"/>
                </a:lnTo>
                <a:cubicBezTo>
                  <a:pt x="946" y="48564"/>
                  <a:pt x="27246" y="37877"/>
                  <a:pt x="41699" y="621"/>
                </a:cubicBezTo>
                <a:cubicBezTo>
                  <a:pt x="41788" y="389"/>
                  <a:pt x="41681" y="122"/>
                  <a:pt x="41431" y="32"/>
                </a:cubicBezTo>
                <a:cubicBezTo>
                  <a:pt x="41376" y="11"/>
                  <a:pt x="41319" y="1"/>
                  <a:pt x="4126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</p:txBody>
      </p:sp>
      <p:sp>
        <p:nvSpPr>
          <p:cNvPr id="295" name="Google Shape;295;p25"/>
          <p:cNvSpPr/>
          <p:nvPr/>
        </p:nvSpPr>
        <p:spPr>
          <a:xfrm rot="8320551" flipH="1">
            <a:off x="16522774" y="897917"/>
            <a:ext cx="1684548" cy="1315014"/>
          </a:xfrm>
          <a:custGeom>
            <a:avLst/>
            <a:gdLst/>
            <a:ahLst/>
            <a:cxnLst/>
            <a:rect l="l" t="t" r="r" b="b"/>
            <a:pathLst>
              <a:path w="47213" h="36856" extrusionOk="0">
                <a:moveTo>
                  <a:pt x="43429" y="0"/>
                </a:moveTo>
                <a:cubicBezTo>
                  <a:pt x="31118" y="18467"/>
                  <a:pt x="10635" y="21287"/>
                  <a:pt x="6210" y="24213"/>
                </a:cubicBezTo>
                <a:cubicBezTo>
                  <a:pt x="1785" y="27121"/>
                  <a:pt x="0" y="30975"/>
                  <a:pt x="4675" y="35222"/>
                </a:cubicBezTo>
                <a:cubicBezTo>
                  <a:pt x="5905" y="36335"/>
                  <a:pt x="7829" y="36856"/>
                  <a:pt x="10161" y="36856"/>
                </a:cubicBezTo>
                <a:cubicBezTo>
                  <a:pt x="16723" y="36856"/>
                  <a:pt x="26523" y="32730"/>
                  <a:pt x="33223" y="26068"/>
                </a:cubicBezTo>
                <a:cubicBezTo>
                  <a:pt x="43626" y="15702"/>
                  <a:pt x="47212" y="5032"/>
                  <a:pt x="47212" y="5032"/>
                </a:cubicBezTo>
                <a:lnTo>
                  <a:pt x="4342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</p:txBody>
      </p:sp>
      <p:sp>
        <p:nvSpPr>
          <p:cNvPr id="296" name="Google Shape;296;p25"/>
          <p:cNvSpPr/>
          <p:nvPr/>
        </p:nvSpPr>
        <p:spPr>
          <a:xfrm rot="8320551" flipH="1">
            <a:off x="16748807" y="976031"/>
            <a:ext cx="1412062" cy="1091122"/>
          </a:xfrm>
          <a:custGeom>
            <a:avLst/>
            <a:gdLst/>
            <a:ahLst/>
            <a:cxnLst/>
            <a:rect l="l" t="t" r="r" b="b"/>
            <a:pathLst>
              <a:path w="39576" h="30581" extrusionOk="0">
                <a:moveTo>
                  <a:pt x="39084" y="1"/>
                </a:moveTo>
                <a:cubicBezTo>
                  <a:pt x="38910" y="1"/>
                  <a:pt x="38744" y="104"/>
                  <a:pt x="38666" y="275"/>
                </a:cubicBezTo>
                <a:cubicBezTo>
                  <a:pt x="28923" y="23309"/>
                  <a:pt x="661" y="29626"/>
                  <a:pt x="429" y="29661"/>
                </a:cubicBezTo>
                <a:cubicBezTo>
                  <a:pt x="179" y="29715"/>
                  <a:pt x="1" y="29947"/>
                  <a:pt x="36" y="30197"/>
                </a:cubicBezTo>
                <a:cubicBezTo>
                  <a:pt x="83" y="30416"/>
                  <a:pt x="268" y="30581"/>
                  <a:pt x="482" y="30581"/>
                </a:cubicBezTo>
                <a:cubicBezTo>
                  <a:pt x="512" y="30581"/>
                  <a:pt x="541" y="30578"/>
                  <a:pt x="572" y="30571"/>
                </a:cubicBezTo>
                <a:cubicBezTo>
                  <a:pt x="857" y="30518"/>
                  <a:pt x="29548" y="24112"/>
                  <a:pt x="39451" y="649"/>
                </a:cubicBezTo>
                <a:cubicBezTo>
                  <a:pt x="39576" y="435"/>
                  <a:pt x="39486" y="168"/>
                  <a:pt x="39272" y="43"/>
                </a:cubicBezTo>
                <a:cubicBezTo>
                  <a:pt x="39211" y="14"/>
                  <a:pt x="39147" y="1"/>
                  <a:pt x="3908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</p:txBody>
      </p:sp>
      <p:sp>
        <p:nvSpPr>
          <p:cNvPr id="297" name="Google Shape;297;p25"/>
          <p:cNvSpPr txBox="1">
            <a:spLocks noGrp="1"/>
          </p:cNvSpPr>
          <p:nvPr>
            <p:ph type="subTitle" idx="7"/>
          </p:nvPr>
        </p:nvSpPr>
        <p:spPr>
          <a:xfrm>
            <a:off x="12685498" y="6633450"/>
            <a:ext cx="3750600" cy="6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accen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98" name="Google Shape;298;p25"/>
          <p:cNvSpPr txBox="1">
            <a:spLocks noGrp="1"/>
          </p:cNvSpPr>
          <p:nvPr>
            <p:ph type="subTitle" idx="8"/>
          </p:nvPr>
        </p:nvSpPr>
        <p:spPr>
          <a:xfrm>
            <a:off x="12685526" y="7442850"/>
            <a:ext cx="3750600" cy="10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 lvl="1" algn="l" rtl="0">
              <a:spcBef>
                <a:spcPts val="0"/>
              </a:spcBef>
              <a:spcAft>
                <a:spcPts val="0"/>
              </a:spcAft>
              <a:buNone/>
              <a:defRPr sz="3200"/>
            </a:lvl2pPr>
            <a:lvl3pPr lvl="2" algn="l" rtl="0">
              <a:spcBef>
                <a:spcPts val="0"/>
              </a:spcBef>
              <a:spcAft>
                <a:spcPts val="0"/>
              </a:spcAft>
              <a:buNone/>
              <a:defRPr sz="3200"/>
            </a:lvl3pPr>
            <a:lvl4pPr lvl="3" algn="l" rtl="0">
              <a:spcBef>
                <a:spcPts val="0"/>
              </a:spcBef>
              <a:spcAft>
                <a:spcPts val="0"/>
              </a:spcAft>
              <a:buNone/>
              <a:defRPr sz="3200"/>
            </a:lvl4pPr>
            <a:lvl5pPr lvl="4" algn="l" rtl="0">
              <a:spcBef>
                <a:spcPts val="0"/>
              </a:spcBef>
              <a:spcAft>
                <a:spcPts val="0"/>
              </a:spcAft>
              <a:buNone/>
              <a:defRPr sz="3200"/>
            </a:lvl5pPr>
            <a:lvl6pPr lvl="5" algn="l" rtl="0">
              <a:spcBef>
                <a:spcPts val="0"/>
              </a:spcBef>
              <a:spcAft>
                <a:spcPts val="0"/>
              </a:spcAft>
              <a:buNone/>
              <a:defRPr sz="3200"/>
            </a:lvl6pPr>
            <a:lvl7pPr lvl="6" algn="l" rtl="0">
              <a:spcBef>
                <a:spcPts val="0"/>
              </a:spcBef>
              <a:spcAft>
                <a:spcPts val="0"/>
              </a:spcAft>
              <a:buNone/>
              <a:defRPr sz="3200"/>
            </a:lvl7pPr>
            <a:lvl8pPr lvl="7" algn="l" rtl="0">
              <a:spcBef>
                <a:spcPts val="0"/>
              </a:spcBef>
              <a:spcAft>
                <a:spcPts val="0"/>
              </a:spcAft>
              <a:buNone/>
              <a:defRPr sz="3200"/>
            </a:lvl8pPr>
            <a:lvl9pPr lvl="8" algn="l" rtl="0">
              <a:spcBef>
                <a:spcPts val="0"/>
              </a:spcBef>
              <a:spcAft>
                <a:spcPts val="0"/>
              </a:spcAft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65213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801016" y="233356"/>
            <a:ext cx="973466" cy="973466"/>
          </a:xfrm>
          <a:custGeom>
            <a:avLst/>
            <a:gdLst/>
            <a:ahLst/>
            <a:cxnLst/>
            <a:rect l="l" t="t" r="r" b="b"/>
            <a:pathLst>
              <a:path w="973466" h="973466">
                <a:moveTo>
                  <a:pt x="0" y="0"/>
                </a:moveTo>
                <a:lnTo>
                  <a:pt x="973466" y="0"/>
                </a:lnTo>
                <a:lnTo>
                  <a:pt x="973466" y="973466"/>
                </a:lnTo>
                <a:lnTo>
                  <a:pt x="0" y="9734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sp>
        <p:nvSpPr>
          <p:cNvPr id="6" name="Freeform 6"/>
          <p:cNvSpPr/>
          <p:nvPr/>
        </p:nvSpPr>
        <p:spPr>
          <a:xfrm>
            <a:off x="633394" y="603676"/>
            <a:ext cx="1302674" cy="1302674"/>
          </a:xfrm>
          <a:custGeom>
            <a:avLst/>
            <a:gdLst/>
            <a:ahLst/>
            <a:cxnLst/>
            <a:rect l="l" t="t" r="r" b="b"/>
            <a:pathLst>
              <a:path w="1302674" h="1302674">
                <a:moveTo>
                  <a:pt x="0" y="0"/>
                </a:moveTo>
                <a:lnTo>
                  <a:pt x="1302674" y="0"/>
                </a:lnTo>
                <a:lnTo>
                  <a:pt x="1302674" y="1302674"/>
                </a:lnTo>
                <a:lnTo>
                  <a:pt x="0" y="13026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3945634" y="912114"/>
            <a:ext cx="3675888" cy="685800"/>
          </a:xfrm>
          <a:custGeom>
            <a:avLst/>
            <a:gdLst/>
            <a:ahLst/>
            <a:cxnLst/>
            <a:rect l="l" t="t" r="r" b="b"/>
            <a:pathLst>
              <a:path w="3675888" h="685800">
                <a:moveTo>
                  <a:pt x="0" y="0"/>
                </a:moveTo>
                <a:lnTo>
                  <a:pt x="3675888" y="0"/>
                </a:lnTo>
                <a:lnTo>
                  <a:pt x="3675888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82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70204" y="9846078"/>
            <a:ext cx="8111796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8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916400" y="9859975"/>
            <a:ext cx="1065746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800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1/16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8204" y="2592367"/>
            <a:ext cx="14831592" cy="879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HỆ THỐNG GỢI Ý LUYỆN TẬP THÔNG MINH</a:t>
            </a:r>
            <a:endParaRPr lang="en-US" sz="5199" b="1" dirty="0">
              <a:solidFill>
                <a:srgbClr val="000000"/>
              </a:solidFill>
              <a:latin typeface="Arial" panose="020B0604020202020204" pitchFamily="34" charset="0"/>
              <a:ea typeface="Canva Sans Bold"/>
              <a:cs typeface="Arial" panose="020B0604020202020204" pitchFamily="34" charset="0"/>
              <a:sym typeface="Canva Sa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383160" y="3477353"/>
            <a:ext cx="11428488" cy="17783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Khai </a:t>
            </a:r>
            <a:r>
              <a:rPr lang="en-US" sz="4800" b="1" dirty="0" err="1">
                <a:latin typeface="Arial" panose="020B0604020202020204" pitchFamily="34" charset="0"/>
                <a:cs typeface="Arial" panose="020B0604020202020204" pitchFamily="34" charset="0"/>
              </a:rPr>
              <a:t>phá</a:t>
            </a: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b="1" dirty="0" err="1">
                <a:latin typeface="Arial" panose="020B0604020202020204" pitchFamily="34" charset="0"/>
                <a:cs typeface="Arial" panose="020B0604020202020204" pitchFamily="34" charset="0"/>
              </a:rPr>
              <a:t>mẫu</a:t>
            </a: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b="1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b="1" dirty="0" err="1">
                <a:latin typeface="Arial" panose="020B0604020202020204" pitchFamily="34" charset="0"/>
                <a:cs typeface="Arial" panose="020B0604020202020204" pitchFamily="34" charset="0"/>
              </a:rPr>
              <a:t>luyện</a:t>
            </a: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b="1" dirty="0" err="1"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b="1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b="1" dirty="0" err="1">
                <a:latin typeface="Arial" panose="020B0604020202020204" pitchFamily="34" charset="0"/>
                <a:cs typeface="Arial" panose="020B0604020202020204" pitchFamily="34" charset="0"/>
              </a:rPr>
              <a:t>dựa</a:t>
            </a: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b="1" dirty="0" err="1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b="1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b="1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endParaRPr lang="en-US" sz="48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Canva Sans Bold"/>
            </a:endParaRPr>
          </a:p>
        </p:txBody>
      </p:sp>
      <p:pic>
        <p:nvPicPr>
          <p:cNvPr id="1026" name="Picture 2" descr="Viện Trí tuệ nhân tạo | Hanoi">
            <a:extLst>
              <a:ext uri="{FF2B5EF4-FFF2-40B4-BE49-F238E27FC236}">
                <a16:creationId xmlns:a16="http://schemas.microsoft.com/office/drawing/2014/main" id="{0433F3A5-BABB-2EFB-4816-60730541D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8076" y="609126"/>
            <a:ext cx="1296884" cy="1302674"/>
          </a:xfrm>
          <a:prstGeom prst="rect">
            <a:avLst/>
          </a:prstGeom>
          <a:blipFill>
            <a:blip r:embed="rId7"/>
            <a:stretch>
              <a:fillRect/>
            </a:stretch>
          </a:blipFill>
        </p:spPr>
      </p:pic>
      <p:pic>
        <p:nvPicPr>
          <p:cNvPr id="16" name="Picture 2" descr="Viện Trí tuệ nhân tạo | Hanoi">
            <a:extLst>
              <a:ext uri="{FF2B5EF4-FFF2-40B4-BE49-F238E27FC236}">
                <a16:creationId xmlns:a16="http://schemas.microsoft.com/office/drawing/2014/main" id="{693D9046-D3EB-F230-5315-7E365B0F88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7967" y="233356"/>
            <a:ext cx="973466" cy="977812"/>
          </a:xfrm>
          <a:prstGeom prst="rect">
            <a:avLst/>
          </a:prstGeom>
          <a:blipFill>
            <a:blip r:embed="rId7"/>
            <a:stretch>
              <a:fillRect/>
            </a:stretch>
          </a:blipFill>
        </p:spPr>
      </p:pic>
      <p:graphicFrame>
        <p:nvGraphicFramePr>
          <p:cNvPr id="17" name="Bảng 16">
            <a:extLst>
              <a:ext uri="{FF2B5EF4-FFF2-40B4-BE49-F238E27FC236}">
                <a16:creationId xmlns:a16="http://schemas.microsoft.com/office/drawing/2014/main" id="{9A0B7617-9062-C8A5-A46A-D6B079FEC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126597"/>
              </p:ext>
            </p:extLst>
          </p:nvPr>
        </p:nvGraphicFramePr>
        <p:xfrm>
          <a:off x="1524000" y="6097756"/>
          <a:ext cx="5802924" cy="3121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02924">
                  <a:extLst>
                    <a:ext uri="{9D8B030D-6E8A-4147-A177-3AD203B41FA5}">
                      <a16:colId xmlns:a16="http://schemas.microsoft.com/office/drawing/2014/main" val="3325621356"/>
                    </a:ext>
                  </a:extLst>
                </a:gridCol>
              </a:tblGrid>
              <a:tr h="78031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Nhóm</a:t>
                      </a:r>
                      <a:r>
                        <a:rPr lang="en-US" sz="3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thực</a:t>
                      </a:r>
                      <a:r>
                        <a:rPr lang="en-US" sz="3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hiện</a:t>
                      </a:r>
                      <a:endParaRPr lang="en-US" sz="3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074800"/>
                  </a:ext>
                </a:extLst>
              </a:tr>
              <a:tr h="78031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Nguyễn Đức Minh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483356"/>
                  </a:ext>
                </a:extLst>
              </a:tr>
              <a:tr h="78031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Nguyễn Đức Huy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973048"/>
                  </a:ext>
                </a:extLst>
              </a:tr>
              <a:tr h="78031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Dương Lý Khánh </a:t>
                      </a:r>
                      <a:r>
                        <a:rPr lang="en-US" sz="28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Hạ</a:t>
                      </a:r>
                      <a:endParaRPr lang="en-US" sz="2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44657"/>
                  </a:ext>
                </a:extLst>
              </a:tr>
            </a:tbl>
          </a:graphicData>
        </a:graphic>
      </p:graphicFrame>
      <p:pic>
        <p:nvPicPr>
          <p:cNvPr id="1028" name="Picture 4" descr="26,300+ Gym Cartoon Stock Photos, Pictures &amp; Royalty-Free Images - iStock">
            <a:extLst>
              <a:ext uri="{FF2B5EF4-FFF2-40B4-BE49-F238E27FC236}">
                <a16:creationId xmlns:a16="http://schemas.microsoft.com/office/drawing/2014/main" id="{79181468-D35D-5AD4-0B60-95B9DAA01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7423" y="5449682"/>
            <a:ext cx="5829300" cy="390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70"/>
          <p:cNvSpPr txBox="1">
            <a:spLocks noGrp="1"/>
          </p:cNvSpPr>
          <p:nvPr>
            <p:ph type="title"/>
          </p:nvPr>
        </p:nvSpPr>
        <p:spPr>
          <a:xfrm>
            <a:off x="1448100" y="595969"/>
            <a:ext cx="15391800" cy="963000"/>
          </a:xfrm>
          <a:prstGeom prst="rect">
            <a:avLst/>
          </a:prstGeom>
        </p:spPr>
        <p:txBody>
          <a:bodyPr spcFirstLastPara="1" vert="horz" wrap="square" lIns="182850" tIns="182850" rIns="182850" bIns="182850" rtlCol="0" anchor="t" anchorCtr="0">
            <a:noAutofit/>
          </a:bodyPr>
          <a:lstStyle/>
          <a:p>
            <a:r>
              <a:rPr lang="en" sz="6000" b="1" dirty="0">
                <a:latin typeface="Arial" panose="020B0604020202020204" pitchFamily="34" charset="0"/>
                <a:cs typeface="Arial" panose="020B0604020202020204" pitchFamily="34" charset="0"/>
              </a:rPr>
              <a:t>MỤC LỤC</a:t>
            </a:r>
            <a:endParaRPr sz="6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8" name="Google Shape;1228;p70"/>
          <p:cNvSpPr/>
          <p:nvPr/>
        </p:nvSpPr>
        <p:spPr>
          <a:xfrm>
            <a:off x="7863600" y="1761400"/>
            <a:ext cx="2560800" cy="159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/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A1F46E72-82F2-044B-7C67-88416924D001}"/>
              </a:ext>
            </a:extLst>
          </p:cNvPr>
          <p:cNvSpPr txBox="1"/>
          <p:nvPr/>
        </p:nvSpPr>
        <p:spPr>
          <a:xfrm>
            <a:off x="1676400" y="3310395"/>
            <a:ext cx="922934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28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5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01</a:t>
            </a:r>
            <a:r>
              <a:rPr lang="en-US" altLang="en-US" sz="5600" b="1" dirty="0">
                <a:solidFill>
                  <a:schemeClr val="tx1">
                    <a:lumMod val="10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  </a:t>
            </a:r>
            <a:r>
              <a:rPr lang="en-US" altLang="en-US" sz="4400" b="1" dirty="0" err="1">
                <a:solidFill>
                  <a:schemeClr val="tx1">
                    <a:lumMod val="10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Giới</a:t>
            </a:r>
            <a:r>
              <a:rPr lang="en-US" altLang="en-US" sz="4400" b="1" dirty="0">
                <a:solidFill>
                  <a:schemeClr val="tx1">
                    <a:lumMod val="10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altLang="en-US" sz="4400" b="1" dirty="0" err="1">
                <a:solidFill>
                  <a:schemeClr val="tx1">
                    <a:lumMod val="10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thiệu</a:t>
            </a:r>
            <a:r>
              <a:rPr lang="en-US" altLang="en-US" sz="4400" b="1" dirty="0">
                <a:solidFill>
                  <a:schemeClr val="tx1">
                    <a:lumMod val="10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</a:p>
          <a:p>
            <a:pPr defTabSz="1828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b="1" dirty="0">
              <a:solidFill>
                <a:schemeClr val="tx1">
                  <a:lumMod val="10000"/>
                </a:schemeClr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defTabSz="1828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5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02</a:t>
            </a:r>
            <a:r>
              <a:rPr lang="en-US" altLang="en-US" sz="56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  </a:t>
            </a:r>
            <a:r>
              <a:rPr lang="en-US" altLang="en-US" sz="4400" b="1" dirty="0" err="1">
                <a:solidFill>
                  <a:schemeClr val="tx1">
                    <a:lumMod val="10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Dữ</a:t>
            </a:r>
            <a:r>
              <a:rPr lang="en-US" altLang="en-US" sz="4400" b="1" dirty="0">
                <a:solidFill>
                  <a:schemeClr val="tx1">
                    <a:lumMod val="10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altLang="en-US" sz="4400" b="1" dirty="0" err="1">
                <a:solidFill>
                  <a:schemeClr val="tx1">
                    <a:lumMod val="10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liệu</a:t>
            </a:r>
            <a:r>
              <a:rPr lang="en-US" altLang="en-US" sz="4400" b="1" dirty="0">
                <a:solidFill>
                  <a:schemeClr val="tx1">
                    <a:lumMod val="10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&amp; </a:t>
            </a:r>
            <a:r>
              <a:rPr lang="en-US" altLang="en-US" sz="4400" b="1" dirty="0" err="1">
                <a:solidFill>
                  <a:schemeClr val="tx1">
                    <a:lumMod val="10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xử</a:t>
            </a:r>
            <a:r>
              <a:rPr lang="en-US" altLang="en-US" sz="4400" b="1" dirty="0">
                <a:solidFill>
                  <a:schemeClr val="tx1">
                    <a:lumMod val="10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altLang="en-US" sz="4400" b="1" dirty="0" err="1">
                <a:solidFill>
                  <a:schemeClr val="tx1">
                    <a:lumMod val="10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lý</a:t>
            </a:r>
            <a:endParaRPr lang="en-US" altLang="en-US" sz="4400" b="1" dirty="0">
              <a:solidFill>
                <a:schemeClr val="tx1">
                  <a:lumMod val="10000"/>
                </a:schemeClr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defTabSz="1828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b="1" dirty="0">
              <a:solidFill>
                <a:schemeClr val="tx1">
                  <a:lumMod val="10000"/>
                </a:schemeClr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defTabSz="1828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5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03 </a:t>
            </a:r>
            <a:r>
              <a:rPr lang="en-US" altLang="en-US" sz="56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 </a:t>
            </a:r>
            <a:r>
              <a:rPr lang="en-US" altLang="en-US" sz="4400" b="1" dirty="0" err="1">
                <a:solidFill>
                  <a:schemeClr val="tx1">
                    <a:lumMod val="10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Kỹ</a:t>
            </a:r>
            <a:r>
              <a:rPr lang="en-US" altLang="en-US" sz="4400" b="1" dirty="0">
                <a:solidFill>
                  <a:schemeClr val="tx1">
                    <a:lumMod val="10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altLang="en-US" sz="4400" b="1" dirty="0" err="1">
                <a:solidFill>
                  <a:schemeClr val="tx1">
                    <a:lumMod val="10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thuật</a:t>
            </a:r>
            <a:r>
              <a:rPr lang="en-US" altLang="en-US" sz="4400" b="1" dirty="0">
                <a:solidFill>
                  <a:schemeClr val="tx1">
                    <a:lumMod val="10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&amp; </a:t>
            </a:r>
            <a:r>
              <a:rPr lang="en-US" altLang="en-US" sz="4400" b="1" dirty="0" err="1">
                <a:solidFill>
                  <a:schemeClr val="tx1">
                    <a:lumMod val="10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thuật</a:t>
            </a:r>
            <a:r>
              <a:rPr lang="en-US" altLang="en-US" sz="4400" b="1" dirty="0">
                <a:solidFill>
                  <a:schemeClr val="tx1">
                    <a:lumMod val="10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altLang="en-US" sz="4400" b="1" dirty="0" err="1">
                <a:solidFill>
                  <a:schemeClr val="tx1">
                    <a:lumMod val="10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toán</a:t>
            </a:r>
            <a:endParaRPr lang="en-US" altLang="en-US" sz="4400" b="1" dirty="0">
              <a:solidFill>
                <a:schemeClr val="tx1">
                  <a:lumMod val="10000"/>
                </a:schemeClr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defTabSz="1828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b="1" dirty="0">
              <a:solidFill>
                <a:schemeClr val="tx1">
                  <a:lumMod val="10000"/>
                </a:schemeClr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8B7779C-5E63-927C-10B6-E2A23A023B78}"/>
              </a:ext>
            </a:extLst>
          </p:cNvPr>
          <p:cNvSpPr txBox="1"/>
          <p:nvPr/>
        </p:nvSpPr>
        <p:spPr>
          <a:xfrm>
            <a:off x="10210800" y="3341436"/>
            <a:ext cx="922934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28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5600" b="1" dirty="0">
                <a:solidFill>
                  <a:schemeClr val="bg1">
                    <a:lumMod val="50000"/>
                  </a:schemeClr>
                </a:solidFill>
                <a:latin typeface="+mj-lt"/>
                <a:ea typeface="Tahoma" panose="020B0604030504040204" pitchFamily="34" charset="0"/>
                <a:cs typeface="Times New Roman" panose="02020603050405020304" pitchFamily="18" charset="0"/>
              </a:rPr>
              <a:t>04   </a:t>
            </a:r>
            <a:r>
              <a:rPr lang="en-US" altLang="en-US" sz="4400" b="1" dirty="0" err="1">
                <a:solidFill>
                  <a:schemeClr val="tx1">
                    <a:lumMod val="10000"/>
                  </a:schemeClr>
                </a:solidFill>
                <a:latin typeface="+mj-lt"/>
                <a:ea typeface="Tahoma" panose="020B0604030504040204" pitchFamily="34" charset="0"/>
                <a:cs typeface="Times New Roman" panose="02020603050405020304" pitchFamily="18" charset="0"/>
              </a:rPr>
              <a:t>Ứng</a:t>
            </a:r>
            <a:r>
              <a:rPr lang="en-US" altLang="en-US" sz="4400" b="1" dirty="0">
                <a:solidFill>
                  <a:schemeClr val="tx1">
                    <a:lumMod val="10000"/>
                  </a:schemeClr>
                </a:solidFill>
                <a:latin typeface="+mj-lt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400" b="1" dirty="0" err="1">
                <a:solidFill>
                  <a:schemeClr val="tx1">
                    <a:lumMod val="10000"/>
                  </a:schemeClr>
                </a:solidFill>
                <a:latin typeface="+mj-lt"/>
                <a:ea typeface="Tahoma" panose="020B0604030504040204" pitchFamily="34" charset="0"/>
                <a:cs typeface="Times New Roman" panose="02020603050405020304" pitchFamily="18" charset="0"/>
              </a:rPr>
              <a:t>dụng</a:t>
            </a:r>
            <a:endParaRPr lang="en-US" altLang="en-US" sz="4400" b="1" dirty="0">
              <a:solidFill>
                <a:schemeClr val="tx1">
                  <a:lumMod val="10000"/>
                </a:schemeClr>
              </a:solidFill>
              <a:latin typeface="+mj-lt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defTabSz="1828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b="1" dirty="0">
              <a:solidFill>
                <a:schemeClr val="tx1">
                  <a:lumMod val="10000"/>
                </a:schemeClr>
              </a:solidFill>
              <a:latin typeface="+mj-lt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defTabSz="1828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5600" b="1" dirty="0">
                <a:solidFill>
                  <a:schemeClr val="bg1">
                    <a:lumMod val="50000"/>
                  </a:schemeClr>
                </a:solidFill>
                <a:latin typeface="+mj-lt"/>
                <a:ea typeface="Tahoma" panose="020B0604030504040204" pitchFamily="34" charset="0"/>
                <a:cs typeface="Times New Roman" panose="02020603050405020304" pitchFamily="18" charset="0"/>
              </a:rPr>
              <a:t>05   </a:t>
            </a:r>
            <a:r>
              <a:rPr lang="en-US" altLang="en-US" sz="4400" b="1" dirty="0" err="1">
                <a:solidFill>
                  <a:schemeClr val="tx1">
                    <a:lumMod val="10000"/>
                  </a:schemeClr>
                </a:solidFill>
                <a:latin typeface="+mj-lt"/>
                <a:ea typeface="Tahoma" panose="020B0604030504040204" pitchFamily="34" charset="0"/>
                <a:cs typeface="Times New Roman" panose="02020603050405020304" pitchFamily="18" charset="0"/>
              </a:rPr>
              <a:t>Kết</a:t>
            </a:r>
            <a:r>
              <a:rPr lang="en-US" altLang="en-US" sz="4400" b="1" dirty="0">
                <a:solidFill>
                  <a:schemeClr val="tx1">
                    <a:lumMod val="10000"/>
                  </a:schemeClr>
                </a:solidFill>
                <a:latin typeface="+mj-lt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400" b="1" dirty="0" err="1">
                <a:solidFill>
                  <a:schemeClr val="tx1">
                    <a:lumMod val="10000"/>
                  </a:schemeClr>
                </a:solidFill>
                <a:latin typeface="+mj-lt"/>
                <a:ea typeface="Tahoma" panose="020B0604030504040204" pitchFamily="34" charset="0"/>
                <a:cs typeface="Times New Roman" panose="02020603050405020304" pitchFamily="18" charset="0"/>
              </a:rPr>
              <a:t>luận</a:t>
            </a:r>
            <a:endParaRPr lang="en-US" altLang="en-US" sz="4400" b="1" dirty="0">
              <a:solidFill>
                <a:schemeClr val="tx1">
                  <a:lumMod val="10000"/>
                </a:schemeClr>
              </a:solidFill>
              <a:latin typeface="+mj-lt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defTabSz="1828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b="1" dirty="0">
              <a:solidFill>
                <a:schemeClr val="tx1">
                  <a:lumMod val="10000"/>
                </a:schemeClr>
              </a:solidFill>
              <a:latin typeface="+mj-lt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defTabSz="1828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b="1" dirty="0">
              <a:solidFill>
                <a:schemeClr val="tx1">
                  <a:lumMod val="10000"/>
                </a:schemeClr>
              </a:solidFill>
              <a:latin typeface="+mj-lt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EBA20376-AC17-483B-C614-08C5C8086FBB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12" name="Group 8">
            <a:extLst>
              <a:ext uri="{FF2B5EF4-FFF2-40B4-BE49-F238E27FC236}">
                <a16:creationId xmlns:a16="http://schemas.microsoft.com/office/drawing/2014/main" id="{352CE2A3-4228-2705-5930-DDCA3420D229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BBBF1A4D-FD6E-3C90-0CAB-2E61C6C3BC08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4" name="TextBox 11">
            <a:extLst>
              <a:ext uri="{FF2B5EF4-FFF2-40B4-BE49-F238E27FC236}">
                <a16:creationId xmlns:a16="http://schemas.microsoft.com/office/drawing/2014/main" id="{DFCD9C2E-C7CA-E444-219D-752746B35770}"/>
              </a:ext>
            </a:extLst>
          </p:cNvPr>
          <p:cNvSpPr txBox="1"/>
          <p:nvPr/>
        </p:nvSpPr>
        <p:spPr>
          <a:xfrm>
            <a:off x="270204" y="9846078"/>
            <a:ext cx="8111796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8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E16E7793-01E7-E919-20E2-123027B54AF0}"/>
              </a:ext>
            </a:extLst>
          </p:cNvPr>
          <p:cNvSpPr txBox="1"/>
          <p:nvPr/>
        </p:nvSpPr>
        <p:spPr>
          <a:xfrm>
            <a:off x="16916400" y="9859975"/>
            <a:ext cx="1065746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800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83C74-B53D-12E9-5491-05A3DF27A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3">
            <a:extLst>
              <a:ext uri="{FF2B5EF4-FFF2-40B4-BE49-F238E27FC236}">
                <a16:creationId xmlns:a16="http://schemas.microsoft.com/office/drawing/2014/main" id="{E19ABBCD-9F02-74B4-2C5A-4BDC2F71A164}"/>
              </a:ext>
            </a:extLst>
          </p:cNvPr>
          <p:cNvSpPr/>
          <p:nvPr/>
        </p:nvSpPr>
        <p:spPr>
          <a:xfrm>
            <a:off x="15801016" y="233356"/>
            <a:ext cx="973466" cy="973466"/>
          </a:xfrm>
          <a:custGeom>
            <a:avLst/>
            <a:gdLst/>
            <a:ahLst/>
            <a:cxnLst/>
            <a:rect l="l" t="t" r="r" b="b"/>
            <a:pathLst>
              <a:path w="973466" h="973466">
                <a:moveTo>
                  <a:pt x="0" y="0"/>
                </a:moveTo>
                <a:lnTo>
                  <a:pt x="973466" y="0"/>
                </a:lnTo>
                <a:lnTo>
                  <a:pt x="973466" y="973466"/>
                </a:lnTo>
                <a:lnTo>
                  <a:pt x="0" y="9734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6" name="Picture 2" descr="Viện Trí tuệ nhân tạo | Hanoi">
            <a:extLst>
              <a:ext uri="{FF2B5EF4-FFF2-40B4-BE49-F238E27FC236}">
                <a16:creationId xmlns:a16="http://schemas.microsoft.com/office/drawing/2014/main" id="{BA849943-0A78-34FB-7A55-96C0934DF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7967" y="233356"/>
            <a:ext cx="973466" cy="977812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1ABE61A0-B3D7-1D95-E470-96AD214496B5}"/>
              </a:ext>
            </a:extLst>
          </p:cNvPr>
          <p:cNvSpPr txBox="1"/>
          <p:nvPr/>
        </p:nvSpPr>
        <p:spPr>
          <a:xfrm>
            <a:off x="7382904" y="2287339"/>
            <a:ext cx="3429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0" b="1" dirty="0">
                <a:solidFill>
                  <a:srgbClr val="0070C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01</a:t>
            </a:r>
            <a:r>
              <a:rPr lang="en-US" altLang="en-US" sz="20000" b="1" dirty="0">
                <a:solidFill>
                  <a:srgbClr val="0070C0"/>
                </a:solidFill>
                <a:latin typeface="Cambria Bold" panose="02040803050406030204" pitchFamily="18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endParaRPr lang="en-US" sz="20000" dirty="0">
              <a:solidFill>
                <a:srgbClr val="0070C0"/>
              </a:solidFill>
              <a:latin typeface="Cambria Bold" panose="02040803050406030204" pitchFamily="18" charset="0"/>
            </a:endParaRPr>
          </a:p>
        </p:txBody>
      </p:sp>
      <p:sp>
        <p:nvSpPr>
          <p:cNvPr id="4" name="Google Shape;1228;p70">
            <a:extLst>
              <a:ext uri="{FF2B5EF4-FFF2-40B4-BE49-F238E27FC236}">
                <a16:creationId xmlns:a16="http://schemas.microsoft.com/office/drawing/2014/main" id="{F21F5E9B-2623-B0A3-21FC-6FD6E5E0457D}"/>
              </a:ext>
            </a:extLst>
          </p:cNvPr>
          <p:cNvSpPr/>
          <p:nvPr/>
        </p:nvSpPr>
        <p:spPr>
          <a:xfrm>
            <a:off x="6697607" y="5143499"/>
            <a:ext cx="4618200" cy="72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/>
          </a:p>
        </p:txBody>
      </p: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15E3445D-9103-C955-37E0-EAF78863DA19}"/>
              </a:ext>
            </a:extLst>
          </p:cNvPr>
          <p:cNvSpPr txBox="1"/>
          <p:nvPr/>
        </p:nvSpPr>
        <p:spPr>
          <a:xfrm>
            <a:off x="6054095" y="5829300"/>
            <a:ext cx="9144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GIỚI THIỆU</a:t>
            </a:r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73C64CF2-DE01-1716-432B-C4A9EED83930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11" name="Group 8">
            <a:extLst>
              <a:ext uri="{FF2B5EF4-FFF2-40B4-BE49-F238E27FC236}">
                <a16:creationId xmlns:a16="http://schemas.microsoft.com/office/drawing/2014/main" id="{8B38DC00-B207-2602-1AA6-4C05C4667EED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4EB58649-6DBB-0BA5-FECD-E315B12216F2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9" name="TextBox 11">
            <a:extLst>
              <a:ext uri="{FF2B5EF4-FFF2-40B4-BE49-F238E27FC236}">
                <a16:creationId xmlns:a16="http://schemas.microsoft.com/office/drawing/2014/main" id="{975A1129-A29C-B48A-E437-83BDB0F6A918}"/>
              </a:ext>
            </a:extLst>
          </p:cNvPr>
          <p:cNvSpPr txBox="1"/>
          <p:nvPr/>
        </p:nvSpPr>
        <p:spPr>
          <a:xfrm>
            <a:off x="270204" y="9846078"/>
            <a:ext cx="8111796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8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5D504190-98AA-A580-D012-4D34E3BAF622}"/>
              </a:ext>
            </a:extLst>
          </p:cNvPr>
          <p:cNvSpPr txBox="1"/>
          <p:nvPr/>
        </p:nvSpPr>
        <p:spPr>
          <a:xfrm>
            <a:off x="16916400" y="9859975"/>
            <a:ext cx="1065746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800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3/16</a:t>
            </a:r>
          </a:p>
        </p:txBody>
      </p:sp>
    </p:spTree>
    <p:extLst>
      <p:ext uri="{BB962C8B-B14F-4D97-AF65-F5344CB8AC3E}">
        <p14:creationId xmlns:p14="http://schemas.microsoft.com/office/powerpoint/2010/main" val="2679083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8A515-1EB3-CA11-8502-3AF4FC800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>
            <a:extLst>
              <a:ext uri="{FF2B5EF4-FFF2-40B4-BE49-F238E27FC236}">
                <a16:creationId xmlns:a16="http://schemas.microsoft.com/office/drawing/2014/main" id="{59D33105-2C37-DB59-E441-C0352151448A}"/>
              </a:ext>
            </a:extLst>
          </p:cNvPr>
          <p:cNvSpPr/>
          <p:nvPr/>
        </p:nvSpPr>
        <p:spPr>
          <a:xfrm>
            <a:off x="1399032" y="545212"/>
            <a:ext cx="57150" cy="570736"/>
          </a:xfrm>
          <a:custGeom>
            <a:avLst/>
            <a:gdLst/>
            <a:ahLst/>
            <a:cxnLst/>
            <a:rect l="l" t="t" r="r" b="b"/>
            <a:pathLst>
              <a:path w="57150" h="570736">
                <a:moveTo>
                  <a:pt x="0" y="0"/>
                </a:moveTo>
                <a:lnTo>
                  <a:pt x="57150" y="0"/>
                </a:lnTo>
                <a:lnTo>
                  <a:pt x="57150" y="570736"/>
                </a:lnTo>
                <a:lnTo>
                  <a:pt x="0" y="570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41F38E7-58E5-4C05-D664-02074DB4AB07}"/>
              </a:ext>
            </a:extLst>
          </p:cNvPr>
          <p:cNvSpPr txBox="1"/>
          <p:nvPr/>
        </p:nvSpPr>
        <p:spPr>
          <a:xfrm>
            <a:off x="1665618" y="541962"/>
            <a:ext cx="686888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1" spc="35" dirty="0" err="1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Bối</a:t>
            </a:r>
            <a:r>
              <a:rPr lang="en-US" sz="3800" b="1" spc="35" dirty="0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 </a:t>
            </a:r>
            <a:r>
              <a:rPr lang="en-US" sz="3800" b="1" spc="35" dirty="0" err="1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cảnh</a:t>
            </a:r>
            <a:r>
              <a:rPr lang="en-US" sz="3800" b="1" spc="35" dirty="0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 </a:t>
            </a:r>
            <a:r>
              <a:rPr lang="en-US" sz="3800" b="1" spc="35" dirty="0" err="1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và</a:t>
            </a:r>
            <a:r>
              <a:rPr lang="en-US" sz="3800" b="1" spc="35" dirty="0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 </a:t>
            </a:r>
            <a:r>
              <a:rPr lang="en-US" sz="3800" b="1" spc="35" dirty="0" err="1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động</a:t>
            </a:r>
            <a:r>
              <a:rPr lang="en-US" sz="3800" b="1" spc="35" dirty="0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 </a:t>
            </a:r>
            <a:r>
              <a:rPr lang="en-US" sz="3800" b="1" spc="35" dirty="0" err="1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lực</a:t>
            </a:r>
            <a:endParaRPr lang="en-US" sz="3800" b="1" spc="35" dirty="0">
              <a:solidFill>
                <a:srgbClr val="000000"/>
              </a:solidFill>
              <a:latin typeface="Arial" panose="020B0604020202020204" pitchFamily="34" charset="0"/>
              <a:ea typeface="TT Rounds Condensed"/>
              <a:cs typeface="Arial" panose="020B0604020202020204" pitchFamily="34" charset="0"/>
              <a:sym typeface="TT Rounds Condense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CCF79E8-4D33-57DA-E687-71AB59614A92}"/>
              </a:ext>
            </a:extLst>
          </p:cNvPr>
          <p:cNvSpPr txBox="1"/>
          <p:nvPr/>
        </p:nvSpPr>
        <p:spPr>
          <a:xfrm>
            <a:off x="636919" y="505050"/>
            <a:ext cx="1028699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spc="39" dirty="0">
                <a:solidFill>
                  <a:srgbClr val="000000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1.1</a:t>
            </a: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1A13E41E-6F0B-A561-1699-D7F4411AD8F3}"/>
              </a:ext>
            </a:extLst>
          </p:cNvPr>
          <p:cNvSpPr/>
          <p:nvPr/>
        </p:nvSpPr>
        <p:spPr>
          <a:xfrm>
            <a:off x="15801016" y="233354"/>
            <a:ext cx="973468" cy="973468"/>
          </a:xfrm>
          <a:custGeom>
            <a:avLst/>
            <a:gdLst/>
            <a:ahLst/>
            <a:cxnLst/>
            <a:rect l="l" t="t" r="r" b="b"/>
            <a:pathLst>
              <a:path w="973468" h="973468">
                <a:moveTo>
                  <a:pt x="0" y="0"/>
                </a:moveTo>
                <a:lnTo>
                  <a:pt x="973468" y="0"/>
                </a:lnTo>
                <a:lnTo>
                  <a:pt x="973468" y="973468"/>
                </a:lnTo>
                <a:lnTo>
                  <a:pt x="0" y="9734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2072B60E-9B45-2271-4836-85E69CF82764}"/>
              </a:ext>
            </a:extLst>
          </p:cNvPr>
          <p:cNvSpPr/>
          <p:nvPr/>
        </p:nvSpPr>
        <p:spPr>
          <a:xfrm>
            <a:off x="1385177" y="2617139"/>
            <a:ext cx="6868880" cy="1828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Calibri" panose="020F0502020204030204" pitchFamily="34" charset="0"/>
              <a:buChar char="–"/>
            </a:pPr>
            <a:r>
              <a:rPr lang="vi-VN" sz="2400" dirty="0">
                <a:solidFill>
                  <a:schemeClr val="tx1"/>
                </a:solidFill>
                <a:latin typeface="+mj-lt"/>
              </a:rPr>
              <a:t>70% người tập </a:t>
            </a:r>
            <a:r>
              <a:rPr lang="vi-VN" sz="2400" dirty="0" err="1">
                <a:solidFill>
                  <a:schemeClr val="tx1"/>
                </a:solidFill>
                <a:latin typeface="+mj-lt"/>
              </a:rPr>
              <a:t>gym</a:t>
            </a:r>
            <a:r>
              <a:rPr lang="vi-VN" sz="2400" dirty="0">
                <a:solidFill>
                  <a:schemeClr val="tx1"/>
                </a:solidFill>
                <a:latin typeface="+mj-lt"/>
              </a:rPr>
              <a:t> không đạt được mục tiêu </a:t>
            </a:r>
            <a:endParaRPr lang="en-US" sz="2400" dirty="0">
              <a:solidFill>
                <a:schemeClr val="tx1"/>
              </a:solidFill>
              <a:latin typeface="+mj-lt"/>
            </a:endParaRPr>
          </a:p>
          <a:p>
            <a:pPr marL="342900" indent="-342900">
              <a:buFont typeface="Calibri" panose="020F0502020204030204" pitchFamily="34" charset="0"/>
              <a:buChar char="–"/>
            </a:pPr>
            <a:r>
              <a:rPr lang="vi-VN" sz="2400" dirty="0">
                <a:solidFill>
                  <a:schemeClr val="tx1"/>
                </a:solidFill>
                <a:latin typeface="+mj-lt"/>
              </a:rPr>
              <a:t>Không biết tập gì, bao lâu, ăn thế nào cho hiệu quả </a:t>
            </a:r>
            <a:endParaRPr lang="en-US" sz="2400" dirty="0">
              <a:solidFill>
                <a:schemeClr val="tx1"/>
              </a:solidFill>
              <a:latin typeface="+mj-lt"/>
            </a:endParaRPr>
          </a:p>
          <a:p>
            <a:pPr marL="342900" indent="-342900">
              <a:buFont typeface="Calibri" panose="020F0502020204030204" pitchFamily="34" charset="0"/>
              <a:buChar char="–"/>
            </a:pPr>
            <a:r>
              <a:rPr lang="vi-VN" sz="2400" dirty="0">
                <a:solidFill>
                  <a:schemeClr val="tx1"/>
                </a:solidFill>
                <a:latin typeface="+mj-lt"/>
              </a:rPr>
              <a:t>Thiếu hệ thống gợi ý cá nhân hóa dựa trên dữ liệu</a:t>
            </a:r>
            <a:endParaRPr lang="en-US" sz="2400" dirty="0">
              <a:solidFill>
                <a:schemeClr val="tx1"/>
              </a:solidFill>
              <a:latin typeface="+mj-lt"/>
              <a:ea typeface="Cambria Math" panose="02040503050406030204" pitchFamily="18" charset="0"/>
            </a:endParaRPr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35035674-48B3-57B8-DF9A-883EBE9980BB}"/>
              </a:ext>
            </a:extLst>
          </p:cNvPr>
          <p:cNvSpPr/>
          <p:nvPr/>
        </p:nvSpPr>
        <p:spPr>
          <a:xfrm>
            <a:off x="1385177" y="2142625"/>
            <a:ext cx="6868880" cy="609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Vấn</a:t>
            </a:r>
            <a:r>
              <a:rPr lang="en-US" sz="28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đề</a:t>
            </a:r>
            <a:endParaRPr lang="en-US" sz="2800" b="1" dirty="0">
              <a:solidFill>
                <a:schemeClr val="tx1"/>
              </a:solidFill>
              <a:latin typeface="Cambria Bold" panose="02040803050406030204" pitchFamily="18" charset="0"/>
            </a:endParaRPr>
          </a:p>
        </p:txBody>
      </p:sp>
      <p:sp>
        <p:nvSpPr>
          <p:cNvPr id="12" name="Mũi tên: Phải 11">
            <a:extLst>
              <a:ext uri="{FF2B5EF4-FFF2-40B4-BE49-F238E27FC236}">
                <a16:creationId xmlns:a16="http://schemas.microsoft.com/office/drawing/2014/main" id="{8B721B9E-E707-09A2-B34E-6923D65F7CFE}"/>
              </a:ext>
            </a:extLst>
          </p:cNvPr>
          <p:cNvSpPr/>
          <p:nvPr/>
        </p:nvSpPr>
        <p:spPr>
          <a:xfrm>
            <a:off x="8484793" y="2979567"/>
            <a:ext cx="914400" cy="533128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D1364C53-F2D3-D233-538C-A051CF28D1CC}"/>
              </a:ext>
            </a:extLst>
          </p:cNvPr>
          <p:cNvSpPr/>
          <p:nvPr/>
        </p:nvSpPr>
        <p:spPr>
          <a:xfrm>
            <a:off x="9629929" y="2769600"/>
            <a:ext cx="6868880" cy="16002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Times New Roman" panose="02020603050405020304" pitchFamily="18" charset="0"/>
              <a:buChar char="–"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51,633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Times New Roman" panose="02020603050405020304" pitchFamily="18" charset="0"/>
              <a:buChar char="–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mẫu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Times New Roman" panose="02020603050405020304" pitchFamily="18" charset="0"/>
              <a:buChar char="–"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gợi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 workout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endParaRPr lang="vi-VN" sz="2400" dirty="0">
              <a:solidFill>
                <a:schemeClr val="tx1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EBA574EC-D362-5352-6D27-0C62ECD36D47}"/>
              </a:ext>
            </a:extLst>
          </p:cNvPr>
          <p:cNvSpPr/>
          <p:nvPr/>
        </p:nvSpPr>
        <p:spPr>
          <a:xfrm>
            <a:off x="9629929" y="2138942"/>
            <a:ext cx="6868880" cy="63065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Giải</a:t>
            </a:r>
            <a:r>
              <a:rPr lang="en-US" sz="28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pháp</a:t>
            </a:r>
            <a:r>
              <a:rPr lang="en-US" sz="28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của</a:t>
            </a:r>
            <a:r>
              <a:rPr lang="en-US" sz="28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chúng</a:t>
            </a:r>
            <a:r>
              <a:rPr lang="en-US" sz="28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em</a:t>
            </a:r>
            <a:endParaRPr lang="en-US" sz="2800" b="1" dirty="0">
              <a:solidFill>
                <a:schemeClr val="tx1"/>
              </a:solidFill>
              <a:latin typeface="Cambria Bold" panose="02040803050406030204" pitchFamily="18" charset="0"/>
            </a:endParaRPr>
          </a:p>
        </p:txBody>
      </p:sp>
      <p:sp>
        <p:nvSpPr>
          <p:cNvPr id="15" name="Mũi tên: Xuống 14">
            <a:extLst>
              <a:ext uri="{FF2B5EF4-FFF2-40B4-BE49-F238E27FC236}">
                <a16:creationId xmlns:a16="http://schemas.microsoft.com/office/drawing/2014/main" id="{071F98F9-789B-AC29-F68F-56B99405A058}"/>
              </a:ext>
            </a:extLst>
          </p:cNvPr>
          <p:cNvSpPr/>
          <p:nvPr/>
        </p:nvSpPr>
        <p:spPr>
          <a:xfrm rot="3149661">
            <a:off x="9993736" y="5090962"/>
            <a:ext cx="819594" cy="1286406"/>
          </a:xfrm>
          <a:prstGeom prst="down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Hình chữ nhật 15">
            <a:extLst>
              <a:ext uri="{FF2B5EF4-FFF2-40B4-BE49-F238E27FC236}">
                <a16:creationId xmlns:a16="http://schemas.microsoft.com/office/drawing/2014/main" id="{ECA60622-219F-60C8-75F5-F4EC3D7072BC}"/>
              </a:ext>
            </a:extLst>
          </p:cNvPr>
          <p:cNvSpPr/>
          <p:nvPr/>
        </p:nvSpPr>
        <p:spPr>
          <a:xfrm>
            <a:off x="5333999" y="7014639"/>
            <a:ext cx="7113193" cy="9628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Giúp người tập </a:t>
            </a:r>
            <a:r>
              <a:rPr lang="vi-V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gym</a:t>
            </a:r>
            <a:r>
              <a:rPr lang="vi-V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tối ưu hóa kế hoạch tập luyện</a:t>
            </a:r>
            <a:endParaRPr lang="vi-VN" sz="2400" dirty="0">
              <a:solidFill>
                <a:schemeClr val="tx1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Hình chữ nhật 16">
            <a:extLst>
              <a:ext uri="{FF2B5EF4-FFF2-40B4-BE49-F238E27FC236}">
                <a16:creationId xmlns:a16="http://schemas.microsoft.com/office/drawing/2014/main" id="{853EA7EE-FF70-3F31-6E45-A99FFBC055D7}"/>
              </a:ext>
            </a:extLst>
          </p:cNvPr>
          <p:cNvSpPr/>
          <p:nvPr/>
        </p:nvSpPr>
        <p:spPr>
          <a:xfrm>
            <a:off x="5334000" y="6602230"/>
            <a:ext cx="7113193" cy="59498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Mục</a:t>
            </a:r>
            <a:r>
              <a:rPr lang="en-US" sz="28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mbria Bold" panose="02040803050406030204" pitchFamily="18" charset="0"/>
              </a:rPr>
              <a:t>tiêu</a:t>
            </a:r>
            <a:r>
              <a:rPr lang="en-US" sz="2800" b="1" dirty="0">
                <a:solidFill>
                  <a:schemeClr val="tx1"/>
                </a:solidFill>
                <a:latin typeface="Cambria Bold" panose="02040803050406030204" pitchFamily="18" charset="0"/>
              </a:rPr>
              <a:t> </a:t>
            </a:r>
          </a:p>
        </p:txBody>
      </p:sp>
      <p:pic>
        <p:nvPicPr>
          <p:cNvPr id="18" name="Picture 2" descr="Viện Trí tuệ nhân tạo | Hanoi">
            <a:extLst>
              <a:ext uri="{FF2B5EF4-FFF2-40B4-BE49-F238E27FC236}">
                <a16:creationId xmlns:a16="http://schemas.microsoft.com/office/drawing/2014/main" id="{B3537B21-34FE-F25B-2569-FDD3138FF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7967" y="233356"/>
            <a:ext cx="973466" cy="977812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</p:pic>
      <p:sp>
        <p:nvSpPr>
          <p:cNvPr id="2" name="TextBox 4">
            <a:extLst>
              <a:ext uri="{FF2B5EF4-FFF2-40B4-BE49-F238E27FC236}">
                <a16:creationId xmlns:a16="http://schemas.microsoft.com/office/drawing/2014/main" id="{8EB81909-D7C5-72D4-18E1-AF1EEEA72C85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3947DE53-35E7-62BF-100C-99A6A85A64F5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4" name="Freeform 9">
              <a:extLst>
                <a:ext uri="{FF2B5EF4-FFF2-40B4-BE49-F238E27FC236}">
                  <a16:creationId xmlns:a16="http://schemas.microsoft.com/office/drawing/2014/main" id="{274D0503-5D0D-3EAD-58C5-2D705CDC61EE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9" name="TextBox 11">
            <a:extLst>
              <a:ext uri="{FF2B5EF4-FFF2-40B4-BE49-F238E27FC236}">
                <a16:creationId xmlns:a16="http://schemas.microsoft.com/office/drawing/2014/main" id="{D329B802-9A3B-7B8B-8E87-C70A5CDA5DCE}"/>
              </a:ext>
            </a:extLst>
          </p:cNvPr>
          <p:cNvSpPr txBox="1"/>
          <p:nvPr/>
        </p:nvSpPr>
        <p:spPr>
          <a:xfrm>
            <a:off x="270204" y="9846078"/>
            <a:ext cx="8111796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8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30" name="TextBox 12">
            <a:extLst>
              <a:ext uri="{FF2B5EF4-FFF2-40B4-BE49-F238E27FC236}">
                <a16:creationId xmlns:a16="http://schemas.microsoft.com/office/drawing/2014/main" id="{04E3A7B3-2AC8-6135-EB2C-8D7FF90C3DEC}"/>
              </a:ext>
            </a:extLst>
          </p:cNvPr>
          <p:cNvSpPr txBox="1"/>
          <p:nvPr/>
        </p:nvSpPr>
        <p:spPr>
          <a:xfrm>
            <a:off x="16916400" y="9859975"/>
            <a:ext cx="1065746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800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4/16</a:t>
            </a:r>
          </a:p>
        </p:txBody>
      </p:sp>
    </p:spTree>
    <p:extLst>
      <p:ext uri="{BB962C8B-B14F-4D97-AF65-F5344CB8AC3E}">
        <p14:creationId xmlns:p14="http://schemas.microsoft.com/office/powerpoint/2010/main" val="3161092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2E774-96AD-B474-0086-97B8B7B60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3">
            <a:extLst>
              <a:ext uri="{FF2B5EF4-FFF2-40B4-BE49-F238E27FC236}">
                <a16:creationId xmlns:a16="http://schemas.microsoft.com/office/drawing/2014/main" id="{399E1A12-7C37-D8A9-9342-BCF5C52C6E21}"/>
              </a:ext>
            </a:extLst>
          </p:cNvPr>
          <p:cNvSpPr/>
          <p:nvPr/>
        </p:nvSpPr>
        <p:spPr>
          <a:xfrm>
            <a:off x="15801016" y="233356"/>
            <a:ext cx="973466" cy="973466"/>
          </a:xfrm>
          <a:custGeom>
            <a:avLst/>
            <a:gdLst/>
            <a:ahLst/>
            <a:cxnLst/>
            <a:rect l="l" t="t" r="r" b="b"/>
            <a:pathLst>
              <a:path w="973466" h="973466">
                <a:moveTo>
                  <a:pt x="0" y="0"/>
                </a:moveTo>
                <a:lnTo>
                  <a:pt x="973466" y="0"/>
                </a:lnTo>
                <a:lnTo>
                  <a:pt x="973466" y="973466"/>
                </a:lnTo>
                <a:lnTo>
                  <a:pt x="0" y="9734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6" name="Picture 2" descr="Viện Trí tuệ nhân tạo | Hanoi">
            <a:extLst>
              <a:ext uri="{FF2B5EF4-FFF2-40B4-BE49-F238E27FC236}">
                <a16:creationId xmlns:a16="http://schemas.microsoft.com/office/drawing/2014/main" id="{438C0D60-B867-7CA7-C175-BE0E5E8A5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7967" y="233356"/>
            <a:ext cx="973466" cy="977812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55F22D96-DFAF-1F1D-8F97-C1ACFA812E94}"/>
              </a:ext>
            </a:extLst>
          </p:cNvPr>
          <p:cNvSpPr txBox="1"/>
          <p:nvPr/>
        </p:nvSpPr>
        <p:spPr>
          <a:xfrm>
            <a:off x="7382904" y="2287339"/>
            <a:ext cx="3429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0" b="1" dirty="0">
                <a:solidFill>
                  <a:srgbClr val="0070C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02</a:t>
            </a:r>
            <a:r>
              <a:rPr lang="en-US" altLang="en-US" sz="20000" b="1" dirty="0">
                <a:solidFill>
                  <a:srgbClr val="0070C0"/>
                </a:solidFill>
                <a:latin typeface="Cambria Bold" panose="02040803050406030204" pitchFamily="18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endParaRPr lang="en-US" sz="20000" dirty="0">
              <a:solidFill>
                <a:srgbClr val="0070C0"/>
              </a:solidFill>
              <a:latin typeface="Cambria Bold" panose="02040803050406030204" pitchFamily="18" charset="0"/>
            </a:endParaRPr>
          </a:p>
        </p:txBody>
      </p:sp>
      <p:sp>
        <p:nvSpPr>
          <p:cNvPr id="4" name="Google Shape;1228;p70">
            <a:extLst>
              <a:ext uri="{FF2B5EF4-FFF2-40B4-BE49-F238E27FC236}">
                <a16:creationId xmlns:a16="http://schemas.microsoft.com/office/drawing/2014/main" id="{7E0D417A-64CE-F206-A3E7-9B7CB25926BE}"/>
              </a:ext>
            </a:extLst>
          </p:cNvPr>
          <p:cNvSpPr/>
          <p:nvPr/>
        </p:nvSpPr>
        <p:spPr>
          <a:xfrm>
            <a:off x="6697607" y="5143499"/>
            <a:ext cx="4618200" cy="72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/>
          </a:p>
        </p:txBody>
      </p: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6A580EF7-6007-9213-360C-C8314D09C1A3}"/>
              </a:ext>
            </a:extLst>
          </p:cNvPr>
          <p:cNvSpPr txBox="1"/>
          <p:nvPr/>
        </p:nvSpPr>
        <p:spPr>
          <a:xfrm>
            <a:off x="4495800" y="5829300"/>
            <a:ext cx="101346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DỮ LIỆU &amp; XỬ LÝ</a:t>
            </a:r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9E9D3E05-F2DD-F029-4179-5FDA9E328A83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11" name="Group 8">
            <a:extLst>
              <a:ext uri="{FF2B5EF4-FFF2-40B4-BE49-F238E27FC236}">
                <a16:creationId xmlns:a16="http://schemas.microsoft.com/office/drawing/2014/main" id="{27D3AD76-7AD3-A6CC-52AD-A19B412ADCAA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73741933-3C95-E7DB-F6A5-1AF0D60C0D47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9" name="TextBox 11">
            <a:extLst>
              <a:ext uri="{FF2B5EF4-FFF2-40B4-BE49-F238E27FC236}">
                <a16:creationId xmlns:a16="http://schemas.microsoft.com/office/drawing/2014/main" id="{D3C5627A-A0BA-FCBE-40FA-89CA31AED23F}"/>
              </a:ext>
            </a:extLst>
          </p:cNvPr>
          <p:cNvSpPr txBox="1"/>
          <p:nvPr/>
        </p:nvSpPr>
        <p:spPr>
          <a:xfrm>
            <a:off x="270204" y="9846078"/>
            <a:ext cx="8111796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8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3235F266-6230-F075-9E49-796AB7F7AEFB}"/>
              </a:ext>
            </a:extLst>
          </p:cNvPr>
          <p:cNvSpPr txBox="1"/>
          <p:nvPr/>
        </p:nvSpPr>
        <p:spPr>
          <a:xfrm>
            <a:off x="16916400" y="9859975"/>
            <a:ext cx="1065746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800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5/16</a:t>
            </a:r>
          </a:p>
        </p:txBody>
      </p:sp>
    </p:spTree>
    <p:extLst>
      <p:ext uri="{BB962C8B-B14F-4D97-AF65-F5344CB8AC3E}">
        <p14:creationId xmlns:p14="http://schemas.microsoft.com/office/powerpoint/2010/main" val="2361184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801016" y="233354"/>
            <a:ext cx="973468" cy="973468"/>
          </a:xfrm>
          <a:custGeom>
            <a:avLst/>
            <a:gdLst/>
            <a:ahLst/>
            <a:cxnLst/>
            <a:rect l="l" t="t" r="r" b="b"/>
            <a:pathLst>
              <a:path w="973468" h="973468">
                <a:moveTo>
                  <a:pt x="0" y="0"/>
                </a:moveTo>
                <a:lnTo>
                  <a:pt x="973468" y="0"/>
                </a:lnTo>
                <a:lnTo>
                  <a:pt x="973468" y="973468"/>
                </a:lnTo>
                <a:lnTo>
                  <a:pt x="0" y="9734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3604BBDD-9A11-D7A5-F6A5-4DCA57DFA7C6}"/>
              </a:ext>
            </a:extLst>
          </p:cNvPr>
          <p:cNvSpPr/>
          <p:nvPr/>
        </p:nvSpPr>
        <p:spPr>
          <a:xfrm>
            <a:off x="1399032" y="545212"/>
            <a:ext cx="57150" cy="570736"/>
          </a:xfrm>
          <a:custGeom>
            <a:avLst/>
            <a:gdLst/>
            <a:ahLst/>
            <a:cxnLst/>
            <a:rect l="l" t="t" r="r" b="b"/>
            <a:pathLst>
              <a:path w="57150" h="570736">
                <a:moveTo>
                  <a:pt x="0" y="0"/>
                </a:moveTo>
                <a:lnTo>
                  <a:pt x="57150" y="0"/>
                </a:lnTo>
                <a:lnTo>
                  <a:pt x="57150" y="570736"/>
                </a:lnTo>
                <a:lnTo>
                  <a:pt x="0" y="5707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798F7001-2CB6-833F-D394-8C2C46858432}"/>
              </a:ext>
            </a:extLst>
          </p:cNvPr>
          <p:cNvSpPr txBox="1"/>
          <p:nvPr/>
        </p:nvSpPr>
        <p:spPr>
          <a:xfrm>
            <a:off x="1665618" y="541962"/>
            <a:ext cx="686888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1" spc="35" dirty="0" err="1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Nguồn</a:t>
            </a:r>
            <a:r>
              <a:rPr lang="en-US" sz="3800" b="1" spc="35" dirty="0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 </a:t>
            </a:r>
            <a:r>
              <a:rPr lang="en-US" sz="3800" b="1" spc="35" dirty="0" err="1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dữ</a:t>
            </a:r>
            <a:r>
              <a:rPr lang="en-US" sz="3800" b="1" spc="35" dirty="0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 </a:t>
            </a:r>
            <a:r>
              <a:rPr lang="en-US" sz="3800" b="1" spc="35" dirty="0" err="1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liệu</a:t>
            </a:r>
            <a:endParaRPr lang="en-US" sz="3800" b="1" spc="35" dirty="0">
              <a:solidFill>
                <a:srgbClr val="000000"/>
              </a:solidFill>
              <a:latin typeface="Arial" panose="020B0604020202020204" pitchFamily="34" charset="0"/>
              <a:ea typeface="TT Rounds Condensed"/>
              <a:cs typeface="Arial" panose="020B0604020202020204" pitchFamily="34" charset="0"/>
              <a:sym typeface="TT Rounds Condensed"/>
            </a:endParaRP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32FB2FD2-7383-F5FF-CF3D-2CED4C83D346}"/>
              </a:ext>
            </a:extLst>
          </p:cNvPr>
          <p:cNvSpPr txBox="1"/>
          <p:nvPr/>
        </p:nvSpPr>
        <p:spPr>
          <a:xfrm>
            <a:off x="636919" y="505050"/>
            <a:ext cx="1028699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spc="39" dirty="0">
                <a:solidFill>
                  <a:srgbClr val="000000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2.1</a:t>
            </a:r>
          </a:p>
        </p:txBody>
      </p:sp>
      <p:sp>
        <p:nvSpPr>
          <p:cNvPr id="27" name="TextBox 12">
            <a:extLst>
              <a:ext uri="{FF2B5EF4-FFF2-40B4-BE49-F238E27FC236}">
                <a16:creationId xmlns:a16="http://schemas.microsoft.com/office/drawing/2014/main" id="{8F2E81F7-CDD4-FCD0-DDC5-91F203DD2ABD}"/>
              </a:ext>
            </a:extLst>
          </p:cNvPr>
          <p:cNvSpPr txBox="1"/>
          <p:nvPr/>
        </p:nvSpPr>
        <p:spPr>
          <a:xfrm>
            <a:off x="847700" y="1456563"/>
            <a:ext cx="14435319" cy="1723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Nguồn dữ liệu (</a:t>
            </a:r>
            <a:r>
              <a:rPr lang="vi-V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Bộ dữ liệu 1: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gym_members_exercise_tracking.csv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hông tin </a:t>
            </a:r>
            <a:r>
              <a:rPr lang="vi-V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gym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973 người dùng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Thuộc tính: Tuổi, giới tính, cân nặng, chiều cao, BMI, % mỡ, loại </a:t>
            </a:r>
            <a:r>
              <a:rPr lang="vi-V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workout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tần suất, thời lượng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Hình ảnh 8" descr="Ảnh có chứa văn bản, ảnh chụp màn hình, màu đen, Phông chữ&#10;&#10;Nội dung do AI tạo ra có thể không chính xác.">
            <a:extLst>
              <a:ext uri="{FF2B5EF4-FFF2-40B4-BE49-F238E27FC236}">
                <a16:creationId xmlns:a16="http://schemas.microsoft.com/office/drawing/2014/main" id="{3901CA07-7451-F611-DA45-E8FBB596FB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555" y="3293380"/>
            <a:ext cx="16969244" cy="2125944"/>
          </a:xfrm>
          <a:prstGeom prst="rect">
            <a:avLst/>
          </a:prstGeom>
        </p:spPr>
      </p:pic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72DC2967-EE0C-29B8-0BF5-9790E54A83D5}"/>
              </a:ext>
            </a:extLst>
          </p:cNvPr>
          <p:cNvSpPr txBox="1"/>
          <p:nvPr/>
        </p:nvSpPr>
        <p:spPr>
          <a:xfrm>
            <a:off x="847700" y="5592361"/>
            <a:ext cx="9144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Bộ dữ liệu 2: megaGymDataset.csv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hư viện bài tập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2,918 bài tập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Phân loại: </a:t>
            </a:r>
            <a:r>
              <a:rPr lang="vi-V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Strength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vi-V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Cardio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HIIT, </a:t>
            </a:r>
            <a:r>
              <a:rPr lang="vi-V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Yoga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Cấp độ: </a:t>
            </a:r>
            <a:r>
              <a:rPr lang="vi-V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Beginner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vi-V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vi-V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Expert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Hình ảnh 12" descr="Ảnh có chứa văn bản, ảnh chụp màn hình, Phông chữ&#10;&#10;Nội dung do AI tạo ra có thể không chính xác.">
            <a:extLst>
              <a:ext uri="{FF2B5EF4-FFF2-40B4-BE49-F238E27FC236}">
                <a16:creationId xmlns:a16="http://schemas.microsoft.com/office/drawing/2014/main" id="{4614C89A-43EF-A1B5-2A6A-51750ED11C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555" y="7387178"/>
            <a:ext cx="15594279" cy="2232490"/>
          </a:xfrm>
          <a:prstGeom prst="rect">
            <a:avLst/>
          </a:prstGeom>
        </p:spPr>
      </p:pic>
      <p:pic>
        <p:nvPicPr>
          <p:cNvPr id="30" name="Picture 2" descr="Viện Trí tuệ nhân tạo | Hanoi">
            <a:extLst>
              <a:ext uri="{FF2B5EF4-FFF2-40B4-BE49-F238E27FC236}">
                <a16:creationId xmlns:a16="http://schemas.microsoft.com/office/drawing/2014/main" id="{0F39E167-1C87-7754-7698-AF7F5A366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7967" y="233356"/>
            <a:ext cx="973466" cy="977812"/>
          </a:xfrm>
          <a:prstGeom prst="rect">
            <a:avLst/>
          </a:prstGeom>
          <a:blipFill>
            <a:blip r:embed="rId8"/>
            <a:stretch>
              <a:fillRect/>
            </a:stretch>
          </a:blipFill>
        </p:spPr>
      </p:pic>
      <p:sp>
        <p:nvSpPr>
          <p:cNvPr id="2" name="TextBox 4">
            <a:extLst>
              <a:ext uri="{FF2B5EF4-FFF2-40B4-BE49-F238E27FC236}">
                <a16:creationId xmlns:a16="http://schemas.microsoft.com/office/drawing/2014/main" id="{1E73C440-46BD-DADA-BE9B-3A6D8BDAFDB7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5243678E-784C-8617-391E-A11096F7BF05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25B4D400-0D87-0AD3-D841-3D5387404292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11">
            <a:extLst>
              <a:ext uri="{FF2B5EF4-FFF2-40B4-BE49-F238E27FC236}">
                <a16:creationId xmlns:a16="http://schemas.microsoft.com/office/drawing/2014/main" id="{496FC28C-15FD-C483-A1F8-ED2CCBA75DFA}"/>
              </a:ext>
            </a:extLst>
          </p:cNvPr>
          <p:cNvSpPr txBox="1"/>
          <p:nvPr/>
        </p:nvSpPr>
        <p:spPr>
          <a:xfrm>
            <a:off x="270204" y="9846078"/>
            <a:ext cx="8111796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8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9654B0A5-5112-5D87-4E2B-11268552047E}"/>
              </a:ext>
            </a:extLst>
          </p:cNvPr>
          <p:cNvSpPr txBox="1"/>
          <p:nvPr/>
        </p:nvSpPr>
        <p:spPr>
          <a:xfrm>
            <a:off x="16916400" y="9859975"/>
            <a:ext cx="1065746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800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21DDD-B240-60B1-8F0E-04D8B9601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1C6F5693-D3BB-4BB8-9441-F8551F6C4613}"/>
              </a:ext>
            </a:extLst>
          </p:cNvPr>
          <p:cNvSpPr/>
          <p:nvPr/>
        </p:nvSpPr>
        <p:spPr>
          <a:xfrm>
            <a:off x="15801016" y="233354"/>
            <a:ext cx="973468" cy="973468"/>
          </a:xfrm>
          <a:custGeom>
            <a:avLst/>
            <a:gdLst/>
            <a:ahLst/>
            <a:cxnLst/>
            <a:rect l="l" t="t" r="r" b="b"/>
            <a:pathLst>
              <a:path w="973468" h="973468">
                <a:moveTo>
                  <a:pt x="0" y="0"/>
                </a:moveTo>
                <a:lnTo>
                  <a:pt x="973468" y="0"/>
                </a:lnTo>
                <a:lnTo>
                  <a:pt x="973468" y="973468"/>
                </a:lnTo>
                <a:lnTo>
                  <a:pt x="0" y="9734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8638F5C0-F092-35B3-DD35-2E64744FDDC4}"/>
              </a:ext>
            </a:extLst>
          </p:cNvPr>
          <p:cNvSpPr/>
          <p:nvPr/>
        </p:nvSpPr>
        <p:spPr>
          <a:xfrm>
            <a:off x="1399032" y="545212"/>
            <a:ext cx="57150" cy="570736"/>
          </a:xfrm>
          <a:custGeom>
            <a:avLst/>
            <a:gdLst/>
            <a:ahLst/>
            <a:cxnLst/>
            <a:rect l="l" t="t" r="r" b="b"/>
            <a:pathLst>
              <a:path w="57150" h="570736">
                <a:moveTo>
                  <a:pt x="0" y="0"/>
                </a:moveTo>
                <a:lnTo>
                  <a:pt x="57150" y="0"/>
                </a:lnTo>
                <a:lnTo>
                  <a:pt x="57150" y="570736"/>
                </a:lnTo>
                <a:lnTo>
                  <a:pt x="0" y="5707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1462123D-E0E3-EC8F-BD95-4B22AEA09D15}"/>
              </a:ext>
            </a:extLst>
          </p:cNvPr>
          <p:cNvSpPr txBox="1"/>
          <p:nvPr/>
        </p:nvSpPr>
        <p:spPr>
          <a:xfrm>
            <a:off x="1665618" y="541962"/>
            <a:ext cx="686888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1" spc="35" dirty="0" err="1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Xử</a:t>
            </a:r>
            <a:r>
              <a:rPr lang="en-US" sz="3800" b="1" spc="35" dirty="0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 </a:t>
            </a:r>
            <a:r>
              <a:rPr lang="en-US" sz="3800" b="1" spc="35" dirty="0" err="1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lý</a:t>
            </a:r>
            <a:r>
              <a:rPr lang="en-US" sz="3800" b="1" spc="35" dirty="0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 </a:t>
            </a:r>
            <a:r>
              <a:rPr lang="en-US" sz="3800" b="1" spc="35" dirty="0" err="1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dữ</a:t>
            </a:r>
            <a:r>
              <a:rPr lang="en-US" sz="3800" b="1" spc="35" dirty="0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 </a:t>
            </a:r>
            <a:r>
              <a:rPr lang="en-US" sz="3800" b="1" spc="35" dirty="0" err="1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liệu</a:t>
            </a:r>
            <a:endParaRPr lang="en-US" sz="3800" b="1" spc="35" dirty="0">
              <a:solidFill>
                <a:srgbClr val="000000"/>
              </a:solidFill>
              <a:latin typeface="Arial" panose="020B0604020202020204" pitchFamily="34" charset="0"/>
              <a:ea typeface="TT Rounds Condensed"/>
              <a:cs typeface="Arial" panose="020B0604020202020204" pitchFamily="34" charset="0"/>
              <a:sym typeface="TT Rounds Condensed"/>
            </a:endParaRP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4A4BCDAF-A50D-CBDE-D224-5188EB568A93}"/>
              </a:ext>
            </a:extLst>
          </p:cNvPr>
          <p:cNvSpPr txBox="1"/>
          <p:nvPr/>
        </p:nvSpPr>
        <p:spPr>
          <a:xfrm>
            <a:off x="636919" y="505050"/>
            <a:ext cx="1028699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spc="39" dirty="0">
                <a:solidFill>
                  <a:srgbClr val="000000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2.2</a:t>
            </a:r>
          </a:p>
        </p:txBody>
      </p:sp>
      <p:pic>
        <p:nvPicPr>
          <p:cNvPr id="30" name="Picture 2" descr="Viện Trí tuệ nhân tạo | Hanoi">
            <a:extLst>
              <a:ext uri="{FF2B5EF4-FFF2-40B4-BE49-F238E27FC236}">
                <a16:creationId xmlns:a16="http://schemas.microsoft.com/office/drawing/2014/main" id="{7670ACA3-584D-FFDB-7A8B-2F7557766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7967" y="233356"/>
            <a:ext cx="973466" cy="977812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</p:pic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14CCF8A8-84F6-DE18-3E11-DC1896AF252E}"/>
              </a:ext>
            </a:extLst>
          </p:cNvPr>
          <p:cNvSpPr txBox="1"/>
          <p:nvPr/>
        </p:nvSpPr>
        <p:spPr>
          <a:xfrm>
            <a:off x="838200" y="1502903"/>
            <a:ext cx="17356608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gộp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gym_members_exercise_tracking.csv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megaGymDataset.csv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gym_workout_sessions.csv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383A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 (Dataset 1) + Height (Dataset 1)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383A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BMI = Weight / (Height²) → BMI (Dataset 3)</a:t>
            </a:r>
          </a:p>
          <a:p>
            <a:pPr lvl="1"/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</a:t>
            </a:r>
          </a:p>
          <a:p>
            <a:pPr lvl="1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Workout_Type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(Dataset 1) +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Exercise_Name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(Dataset 2)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Match: User wants "Strength" → Pick from Strength exercises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Recommended_Exercise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(Dataset 3)</a:t>
            </a: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</a:t>
            </a:r>
          </a:p>
          <a:p>
            <a:pPr lvl="1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Experience_Level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(Dataset 1) + Level (Dataset 2)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Match: User level = "Beginner" → Pick Beginner exercises only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Suitable_Exercise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(Dataset 3)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973 users (Dataset 1) + 2,918 exercises (Dataset 2) → 51,633 records (Dataset 3), Trong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 (0/1)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5C508EBB-A969-F50C-B7A0-FC79CCBAB5D4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5" name="Group 8">
            <a:extLst>
              <a:ext uri="{FF2B5EF4-FFF2-40B4-BE49-F238E27FC236}">
                <a16:creationId xmlns:a16="http://schemas.microsoft.com/office/drawing/2014/main" id="{B26DC1BA-1445-84FB-5081-1EBE4B1CD9F1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2D0951C0-E575-703C-B37E-2BFF5D46CA8F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" name="TextBox 11">
            <a:extLst>
              <a:ext uri="{FF2B5EF4-FFF2-40B4-BE49-F238E27FC236}">
                <a16:creationId xmlns:a16="http://schemas.microsoft.com/office/drawing/2014/main" id="{A55A8710-CC33-E50C-7469-75F5FB1E8B9F}"/>
              </a:ext>
            </a:extLst>
          </p:cNvPr>
          <p:cNvSpPr txBox="1"/>
          <p:nvPr/>
        </p:nvSpPr>
        <p:spPr>
          <a:xfrm>
            <a:off x="270204" y="9846078"/>
            <a:ext cx="8111796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8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93BAE8F9-21D8-F620-9177-7924DD9F3B0D}"/>
              </a:ext>
            </a:extLst>
          </p:cNvPr>
          <p:cNvSpPr txBox="1"/>
          <p:nvPr/>
        </p:nvSpPr>
        <p:spPr>
          <a:xfrm>
            <a:off x="16916400" y="9859975"/>
            <a:ext cx="1065746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800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7/16</a:t>
            </a:r>
          </a:p>
        </p:txBody>
      </p:sp>
    </p:spTree>
    <p:extLst>
      <p:ext uri="{BB962C8B-B14F-4D97-AF65-F5344CB8AC3E}">
        <p14:creationId xmlns:p14="http://schemas.microsoft.com/office/powerpoint/2010/main" val="1381505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4FEF9-347C-D2C9-3913-66A88A856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3">
            <a:extLst>
              <a:ext uri="{FF2B5EF4-FFF2-40B4-BE49-F238E27FC236}">
                <a16:creationId xmlns:a16="http://schemas.microsoft.com/office/drawing/2014/main" id="{FA126ECA-06A5-56BB-8868-B925F152470E}"/>
              </a:ext>
            </a:extLst>
          </p:cNvPr>
          <p:cNvSpPr/>
          <p:nvPr/>
        </p:nvSpPr>
        <p:spPr>
          <a:xfrm>
            <a:off x="15801016" y="233356"/>
            <a:ext cx="973466" cy="973466"/>
          </a:xfrm>
          <a:custGeom>
            <a:avLst/>
            <a:gdLst/>
            <a:ahLst/>
            <a:cxnLst/>
            <a:rect l="l" t="t" r="r" b="b"/>
            <a:pathLst>
              <a:path w="973466" h="973466">
                <a:moveTo>
                  <a:pt x="0" y="0"/>
                </a:moveTo>
                <a:lnTo>
                  <a:pt x="973466" y="0"/>
                </a:lnTo>
                <a:lnTo>
                  <a:pt x="973466" y="973466"/>
                </a:lnTo>
                <a:lnTo>
                  <a:pt x="0" y="9734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6" name="Picture 2" descr="Viện Trí tuệ nhân tạo | Hanoi">
            <a:extLst>
              <a:ext uri="{FF2B5EF4-FFF2-40B4-BE49-F238E27FC236}">
                <a16:creationId xmlns:a16="http://schemas.microsoft.com/office/drawing/2014/main" id="{C4DC43C6-6B83-EA61-C58D-D58CDC8F2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7967" y="233356"/>
            <a:ext cx="973466" cy="977812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0B06EC37-AD2B-530C-5F84-05788B9908A5}"/>
              </a:ext>
            </a:extLst>
          </p:cNvPr>
          <p:cNvSpPr txBox="1"/>
          <p:nvPr/>
        </p:nvSpPr>
        <p:spPr>
          <a:xfrm>
            <a:off x="7382904" y="2287339"/>
            <a:ext cx="3429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0" b="1" dirty="0">
                <a:solidFill>
                  <a:srgbClr val="0070C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03</a:t>
            </a:r>
            <a:r>
              <a:rPr lang="en-US" altLang="en-US" sz="20000" b="1" dirty="0">
                <a:solidFill>
                  <a:srgbClr val="0070C0"/>
                </a:solidFill>
                <a:latin typeface="Cambria Bold" panose="02040803050406030204" pitchFamily="18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endParaRPr lang="en-US" sz="20000" dirty="0">
              <a:solidFill>
                <a:srgbClr val="0070C0"/>
              </a:solidFill>
              <a:latin typeface="Cambria Bold" panose="02040803050406030204" pitchFamily="18" charset="0"/>
            </a:endParaRPr>
          </a:p>
        </p:txBody>
      </p:sp>
      <p:sp>
        <p:nvSpPr>
          <p:cNvPr id="4" name="Google Shape;1228;p70">
            <a:extLst>
              <a:ext uri="{FF2B5EF4-FFF2-40B4-BE49-F238E27FC236}">
                <a16:creationId xmlns:a16="http://schemas.microsoft.com/office/drawing/2014/main" id="{475120CE-008D-060B-33FE-304C466FC4E7}"/>
              </a:ext>
            </a:extLst>
          </p:cNvPr>
          <p:cNvSpPr/>
          <p:nvPr/>
        </p:nvSpPr>
        <p:spPr>
          <a:xfrm>
            <a:off x="6697607" y="5143499"/>
            <a:ext cx="4618200" cy="72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/>
          </a:p>
        </p:txBody>
      </p: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EE90702B-3B39-33E3-244E-53BA759B4A5C}"/>
              </a:ext>
            </a:extLst>
          </p:cNvPr>
          <p:cNvSpPr txBox="1"/>
          <p:nvPr/>
        </p:nvSpPr>
        <p:spPr>
          <a:xfrm>
            <a:off x="2075004" y="5829300"/>
            <a:ext cx="158496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KỸ THUẬT &amp; THUẬT TOÁN</a:t>
            </a:r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13D4E482-F2E4-817D-9066-F4501D4B0BB1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11" name="Group 8">
            <a:extLst>
              <a:ext uri="{FF2B5EF4-FFF2-40B4-BE49-F238E27FC236}">
                <a16:creationId xmlns:a16="http://schemas.microsoft.com/office/drawing/2014/main" id="{4E4091DC-3C1E-3D51-E461-C6F612596BB9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47A78A40-0F9D-CBA4-8699-E5D136B23222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9" name="TextBox 11">
            <a:extLst>
              <a:ext uri="{FF2B5EF4-FFF2-40B4-BE49-F238E27FC236}">
                <a16:creationId xmlns:a16="http://schemas.microsoft.com/office/drawing/2014/main" id="{1DDE63FC-C3C7-FDAD-3B9C-FA66B54835E3}"/>
              </a:ext>
            </a:extLst>
          </p:cNvPr>
          <p:cNvSpPr txBox="1"/>
          <p:nvPr/>
        </p:nvSpPr>
        <p:spPr>
          <a:xfrm>
            <a:off x="270204" y="9846078"/>
            <a:ext cx="8111796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8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CAD8A0EE-E3D0-4752-383F-368A4D3CC0AF}"/>
              </a:ext>
            </a:extLst>
          </p:cNvPr>
          <p:cNvSpPr txBox="1"/>
          <p:nvPr/>
        </p:nvSpPr>
        <p:spPr>
          <a:xfrm>
            <a:off x="16916400" y="9859975"/>
            <a:ext cx="1065746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800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8/16</a:t>
            </a:r>
          </a:p>
        </p:txBody>
      </p:sp>
    </p:spTree>
    <p:extLst>
      <p:ext uri="{BB962C8B-B14F-4D97-AF65-F5344CB8AC3E}">
        <p14:creationId xmlns:p14="http://schemas.microsoft.com/office/powerpoint/2010/main" val="1394650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38992-432D-5686-0AF5-999C5A6DB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0E256A7B-0973-DD29-CBFF-F93203170354}"/>
              </a:ext>
            </a:extLst>
          </p:cNvPr>
          <p:cNvSpPr/>
          <p:nvPr/>
        </p:nvSpPr>
        <p:spPr>
          <a:xfrm>
            <a:off x="15801016" y="233354"/>
            <a:ext cx="973468" cy="973468"/>
          </a:xfrm>
          <a:custGeom>
            <a:avLst/>
            <a:gdLst/>
            <a:ahLst/>
            <a:cxnLst/>
            <a:rect l="l" t="t" r="r" b="b"/>
            <a:pathLst>
              <a:path w="973468" h="973468">
                <a:moveTo>
                  <a:pt x="0" y="0"/>
                </a:moveTo>
                <a:lnTo>
                  <a:pt x="973468" y="0"/>
                </a:lnTo>
                <a:lnTo>
                  <a:pt x="973468" y="973468"/>
                </a:lnTo>
                <a:lnTo>
                  <a:pt x="0" y="9734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0FA00C5A-EC2A-8B10-38B1-843B36AF4766}"/>
              </a:ext>
            </a:extLst>
          </p:cNvPr>
          <p:cNvSpPr/>
          <p:nvPr/>
        </p:nvSpPr>
        <p:spPr>
          <a:xfrm>
            <a:off x="1399032" y="545212"/>
            <a:ext cx="57150" cy="570736"/>
          </a:xfrm>
          <a:custGeom>
            <a:avLst/>
            <a:gdLst/>
            <a:ahLst/>
            <a:cxnLst/>
            <a:rect l="l" t="t" r="r" b="b"/>
            <a:pathLst>
              <a:path w="57150" h="570736">
                <a:moveTo>
                  <a:pt x="0" y="0"/>
                </a:moveTo>
                <a:lnTo>
                  <a:pt x="57150" y="0"/>
                </a:lnTo>
                <a:lnTo>
                  <a:pt x="57150" y="570736"/>
                </a:lnTo>
                <a:lnTo>
                  <a:pt x="0" y="5707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C00A8588-067D-9207-DB65-FEB00280256C}"/>
              </a:ext>
            </a:extLst>
          </p:cNvPr>
          <p:cNvSpPr txBox="1"/>
          <p:nvPr/>
        </p:nvSpPr>
        <p:spPr>
          <a:xfrm>
            <a:off x="1665618" y="541962"/>
            <a:ext cx="686888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1" spc="35" dirty="0" err="1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Luật</a:t>
            </a:r>
            <a:r>
              <a:rPr lang="en-US" sz="3800" b="1" spc="35" dirty="0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 </a:t>
            </a:r>
            <a:r>
              <a:rPr lang="en-US" sz="3800" b="1" spc="35" dirty="0" err="1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kết</a:t>
            </a:r>
            <a:r>
              <a:rPr lang="en-US" sz="3800" b="1" spc="35" dirty="0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 </a:t>
            </a:r>
            <a:r>
              <a:rPr lang="en-US" sz="3800" b="1" spc="35" dirty="0" err="1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hợp</a:t>
            </a:r>
            <a:r>
              <a:rPr lang="en-US" sz="3800" b="1" spc="35" dirty="0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 </a:t>
            </a:r>
            <a:r>
              <a:rPr lang="en-US" sz="3800" b="1" spc="35" dirty="0" err="1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Aprori</a:t>
            </a:r>
            <a:endParaRPr lang="en-US" sz="3800" b="1" spc="35" dirty="0">
              <a:solidFill>
                <a:srgbClr val="000000"/>
              </a:solidFill>
              <a:latin typeface="Arial" panose="020B0604020202020204" pitchFamily="34" charset="0"/>
              <a:ea typeface="TT Rounds Condensed"/>
              <a:cs typeface="Arial" panose="020B0604020202020204" pitchFamily="34" charset="0"/>
              <a:sym typeface="TT Rounds Condensed"/>
            </a:endParaRP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80748722-11D8-DD55-647A-6BEDCDE5398C}"/>
              </a:ext>
            </a:extLst>
          </p:cNvPr>
          <p:cNvSpPr txBox="1"/>
          <p:nvPr/>
        </p:nvSpPr>
        <p:spPr>
          <a:xfrm>
            <a:off x="636919" y="505050"/>
            <a:ext cx="1028699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spc="39" dirty="0">
                <a:solidFill>
                  <a:srgbClr val="000000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3.1</a:t>
            </a:r>
          </a:p>
        </p:txBody>
      </p:sp>
      <p:pic>
        <p:nvPicPr>
          <p:cNvPr id="30" name="Picture 2" descr="Viện Trí tuệ nhân tạo | Hanoi">
            <a:extLst>
              <a:ext uri="{FF2B5EF4-FFF2-40B4-BE49-F238E27FC236}">
                <a16:creationId xmlns:a16="http://schemas.microsoft.com/office/drawing/2014/main" id="{3F55A9BA-EA71-EA06-39C0-948F45D371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7967" y="233356"/>
            <a:ext cx="973466" cy="977812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</p:pic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7BD2B4CB-2020-29E2-6840-02BC69B9DD45}"/>
              </a:ext>
            </a:extLst>
          </p:cNvPr>
          <p:cNvSpPr txBox="1"/>
          <p:nvPr/>
        </p:nvSpPr>
        <p:spPr>
          <a:xfrm>
            <a:off x="457200" y="5863457"/>
            <a:ext cx="9144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Tx/>
              <a:buChar char="-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Protein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cực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kì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Tx/>
              <a:buChar char="-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buổi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8A7BC15D-E844-492A-8A70-81F7B9038C2E}"/>
              </a:ext>
            </a:extLst>
          </p:cNvPr>
          <p:cNvSpPr/>
          <p:nvPr/>
        </p:nvSpPr>
        <p:spPr>
          <a:xfrm>
            <a:off x="636919" y="2336117"/>
            <a:ext cx="6868880" cy="18158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lvl="1" indent="-285750">
              <a:buFont typeface="Times New Roman" panose="02020603050405020304" pitchFamily="18" charset="0"/>
              <a:buChar char="–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 support</a:t>
            </a:r>
            <a:r>
              <a:rPr lang="vi-V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0.01</a:t>
            </a:r>
          </a:p>
          <a:p>
            <a:pPr marL="742950" lvl="1" indent="-285750">
              <a:buFont typeface="Times New Roman" panose="02020603050405020304" pitchFamily="18" charset="0"/>
              <a:buChar char="–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 confidence</a:t>
            </a:r>
            <a:r>
              <a:rPr lang="vi-V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0.7</a:t>
            </a:r>
          </a:p>
          <a:p>
            <a:pPr marL="742950" lvl="1" indent="-285750">
              <a:buFont typeface="Times New Roman" panose="02020603050405020304" pitchFamily="18" charset="0"/>
              <a:buChar char="–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 lift</a:t>
            </a:r>
            <a:r>
              <a:rPr lang="vi-V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1.2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vi-V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 được 140 luật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Hình chữ nhật 25">
            <a:extLst>
              <a:ext uri="{FF2B5EF4-FFF2-40B4-BE49-F238E27FC236}">
                <a16:creationId xmlns:a16="http://schemas.microsoft.com/office/drawing/2014/main" id="{979E93C8-925B-61A7-9B21-59A7A8E13527}"/>
              </a:ext>
            </a:extLst>
          </p:cNvPr>
          <p:cNvSpPr/>
          <p:nvPr/>
        </p:nvSpPr>
        <p:spPr>
          <a:xfrm>
            <a:off x="636919" y="1337080"/>
            <a:ext cx="6868880" cy="9808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 </a:t>
            </a:r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Apriori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Hình chữ nhật 33">
            <a:extLst>
              <a:ext uri="{FF2B5EF4-FFF2-40B4-BE49-F238E27FC236}">
                <a16:creationId xmlns:a16="http://schemas.microsoft.com/office/drawing/2014/main" id="{807DF55C-BAA5-E4F1-3221-EF583DB70D03}"/>
              </a:ext>
            </a:extLst>
          </p:cNvPr>
          <p:cNvSpPr/>
          <p:nvPr/>
        </p:nvSpPr>
        <p:spPr>
          <a:xfrm>
            <a:off x="7912868" y="1946141"/>
            <a:ext cx="10069278" cy="82718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 302: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IF: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Goal_Muscle_Gain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Freq_4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THEN: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Success_1,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Protein_High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Support: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0.060644 |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Confidence: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1.000000 (100%) |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Lift: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9.214540</a:t>
            </a:r>
          </a:p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 403: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IF: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Goal_Muscle_Gain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Freq_4,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Time_Morning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THEN: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Success_1,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Protein_High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Support: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0.022741 |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Confidence: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1.000000 (100%) |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Lift: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9.214540</a:t>
            </a:r>
          </a:p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 303: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IF: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Freq_4,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Protein_High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THEN: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Goal_Muscle_Gain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Success_1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Support: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0.060644 |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Confidence: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1.000000 (100%) |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Lift: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9.214540</a:t>
            </a:r>
          </a:p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 364: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IF: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Protein_High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Time_Afternoon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THEN: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Goal_Muscle_Gain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Success_1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Support: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0.035891 |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Confidence: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0.660969 (66%) |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Lift: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6.090522</a:t>
            </a:r>
          </a:p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Hình chữ nhật 34">
            <a:extLst>
              <a:ext uri="{FF2B5EF4-FFF2-40B4-BE49-F238E27FC236}">
                <a16:creationId xmlns:a16="http://schemas.microsoft.com/office/drawing/2014/main" id="{714FBFC3-637B-05D7-B82B-677C53021ED4}"/>
              </a:ext>
            </a:extLst>
          </p:cNvPr>
          <p:cNvSpPr/>
          <p:nvPr/>
        </p:nvSpPr>
        <p:spPr>
          <a:xfrm>
            <a:off x="7912868" y="1336542"/>
            <a:ext cx="10069278" cy="609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FACE43A2-5553-C0D4-1834-B06E3347FD39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ED6C8645-A71E-7A48-D67D-335A022CC4AC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D4557F38-A27F-2527-4AFA-9E1A28F50598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11">
            <a:extLst>
              <a:ext uri="{FF2B5EF4-FFF2-40B4-BE49-F238E27FC236}">
                <a16:creationId xmlns:a16="http://schemas.microsoft.com/office/drawing/2014/main" id="{4D807014-4CF5-0A70-CE3E-D9EBCEBDDB77}"/>
              </a:ext>
            </a:extLst>
          </p:cNvPr>
          <p:cNvSpPr txBox="1"/>
          <p:nvPr/>
        </p:nvSpPr>
        <p:spPr>
          <a:xfrm>
            <a:off x="270204" y="9846078"/>
            <a:ext cx="8111796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8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0866B073-B943-4AEE-50EE-888A88709B30}"/>
              </a:ext>
            </a:extLst>
          </p:cNvPr>
          <p:cNvSpPr txBox="1"/>
          <p:nvPr/>
        </p:nvSpPr>
        <p:spPr>
          <a:xfrm>
            <a:off x="16916400" y="9859975"/>
            <a:ext cx="1065746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800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9/16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D0A3188-B258-925F-8D67-F2B947D5C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6957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8271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08233-EC32-3EED-E8F7-3642D421F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45C15690-F94C-A945-8308-1514D32E4662}"/>
              </a:ext>
            </a:extLst>
          </p:cNvPr>
          <p:cNvSpPr/>
          <p:nvPr/>
        </p:nvSpPr>
        <p:spPr>
          <a:xfrm>
            <a:off x="15801016" y="233354"/>
            <a:ext cx="973468" cy="973468"/>
          </a:xfrm>
          <a:custGeom>
            <a:avLst/>
            <a:gdLst/>
            <a:ahLst/>
            <a:cxnLst/>
            <a:rect l="l" t="t" r="r" b="b"/>
            <a:pathLst>
              <a:path w="973468" h="973468">
                <a:moveTo>
                  <a:pt x="0" y="0"/>
                </a:moveTo>
                <a:lnTo>
                  <a:pt x="973468" y="0"/>
                </a:lnTo>
                <a:lnTo>
                  <a:pt x="973468" y="973468"/>
                </a:lnTo>
                <a:lnTo>
                  <a:pt x="0" y="9734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5E9F8255-E68B-D5B1-2207-D907043B7D67}"/>
              </a:ext>
            </a:extLst>
          </p:cNvPr>
          <p:cNvSpPr/>
          <p:nvPr/>
        </p:nvSpPr>
        <p:spPr>
          <a:xfrm>
            <a:off x="1399032" y="545212"/>
            <a:ext cx="57150" cy="570736"/>
          </a:xfrm>
          <a:custGeom>
            <a:avLst/>
            <a:gdLst/>
            <a:ahLst/>
            <a:cxnLst/>
            <a:rect l="l" t="t" r="r" b="b"/>
            <a:pathLst>
              <a:path w="57150" h="570736">
                <a:moveTo>
                  <a:pt x="0" y="0"/>
                </a:moveTo>
                <a:lnTo>
                  <a:pt x="57150" y="0"/>
                </a:lnTo>
                <a:lnTo>
                  <a:pt x="57150" y="570736"/>
                </a:lnTo>
                <a:lnTo>
                  <a:pt x="0" y="5707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7FCEE883-1DAB-C387-A942-F85E04B08E94}"/>
              </a:ext>
            </a:extLst>
          </p:cNvPr>
          <p:cNvSpPr txBox="1"/>
          <p:nvPr/>
        </p:nvSpPr>
        <p:spPr>
          <a:xfrm>
            <a:off x="1665618" y="541962"/>
            <a:ext cx="686888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1" spc="35" dirty="0" err="1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Phân</a:t>
            </a:r>
            <a:r>
              <a:rPr lang="en-US" sz="3800" b="1" spc="35" dirty="0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 </a:t>
            </a:r>
            <a:r>
              <a:rPr lang="en-US" sz="3800" b="1" spc="35" dirty="0" err="1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loại</a:t>
            </a:r>
            <a:r>
              <a:rPr lang="en-US" sz="3800" b="1" spc="35" dirty="0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 – Random forest</a:t>
            </a: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B0593247-3975-9CFE-A098-A9FE013DDF01}"/>
              </a:ext>
            </a:extLst>
          </p:cNvPr>
          <p:cNvSpPr txBox="1"/>
          <p:nvPr/>
        </p:nvSpPr>
        <p:spPr>
          <a:xfrm>
            <a:off x="636919" y="505050"/>
            <a:ext cx="1028699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spc="39" dirty="0">
                <a:solidFill>
                  <a:srgbClr val="000000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3.2</a:t>
            </a:r>
          </a:p>
        </p:txBody>
      </p:sp>
      <p:pic>
        <p:nvPicPr>
          <p:cNvPr id="30" name="Picture 2" descr="Viện Trí tuệ nhân tạo | Hanoi">
            <a:extLst>
              <a:ext uri="{FF2B5EF4-FFF2-40B4-BE49-F238E27FC236}">
                <a16:creationId xmlns:a16="http://schemas.microsoft.com/office/drawing/2014/main" id="{798A3357-0A30-1830-B6DC-A82E14E0D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7967" y="233356"/>
            <a:ext cx="973466" cy="977812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</p:pic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DBEDEBC4-D21B-804A-6296-5A7F6E621B43}"/>
              </a:ext>
            </a:extLst>
          </p:cNvPr>
          <p:cNvSpPr txBox="1"/>
          <p:nvPr/>
        </p:nvSpPr>
        <p:spPr>
          <a:xfrm>
            <a:off x="643846" y="1562100"/>
            <a:ext cx="16736681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vi-VN" sz="2800" dirty="0"/>
              <a:t> 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dụng </a:t>
            </a:r>
            <a:r>
              <a:rPr lang="vi-V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Forest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để dự đoán thành công của </a:t>
            </a:r>
            <a:r>
              <a:rPr lang="vi-V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workout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dựa trên thông tin người dùng.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khuyến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nghị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File gym_workout_sessions.csv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Hình ảnh 4" descr="Ảnh có chứa văn bản, ảnh chụp màn hình, biểu đồ, Sơ đồ&#10;&#10;Nội dung do AI tạo ra có thể không chính xác.">
            <a:extLst>
              <a:ext uri="{FF2B5EF4-FFF2-40B4-BE49-F238E27FC236}">
                <a16:creationId xmlns:a16="http://schemas.microsoft.com/office/drawing/2014/main" id="{3F7CF4AB-AE06-CF0E-E9DF-31D45AD8E4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2414" y="3319134"/>
            <a:ext cx="9944167" cy="5932314"/>
          </a:xfrm>
          <a:prstGeom prst="rect">
            <a:avLst/>
          </a:prstGeom>
        </p:spPr>
      </p:pic>
      <p:sp>
        <p:nvSpPr>
          <p:cNvPr id="2" name="TextBox 4">
            <a:extLst>
              <a:ext uri="{FF2B5EF4-FFF2-40B4-BE49-F238E27FC236}">
                <a16:creationId xmlns:a16="http://schemas.microsoft.com/office/drawing/2014/main" id="{C2386F45-60FA-82AF-2EBF-D12ACBDF63A3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7AE398DC-B45B-AC56-3B29-D66FD3187CBC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B95D505-E479-DA47-43BA-C641B4813BBA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C3A6F58B-0AFC-76F3-EA12-F17AD08A4A28}"/>
              </a:ext>
            </a:extLst>
          </p:cNvPr>
          <p:cNvSpPr txBox="1"/>
          <p:nvPr/>
        </p:nvSpPr>
        <p:spPr>
          <a:xfrm>
            <a:off x="270204" y="9846078"/>
            <a:ext cx="8111796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8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4F53F96-0577-E9B3-B8F6-370E7B495E09}"/>
              </a:ext>
            </a:extLst>
          </p:cNvPr>
          <p:cNvSpPr txBox="1"/>
          <p:nvPr/>
        </p:nvSpPr>
        <p:spPr>
          <a:xfrm>
            <a:off x="16916400" y="9859975"/>
            <a:ext cx="1065746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800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10/16</a:t>
            </a:r>
          </a:p>
        </p:txBody>
      </p:sp>
    </p:spTree>
    <p:extLst>
      <p:ext uri="{BB962C8B-B14F-4D97-AF65-F5344CB8AC3E}">
        <p14:creationId xmlns:p14="http://schemas.microsoft.com/office/powerpoint/2010/main" val="1104886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1CB93-CEA6-4772-EF5C-8B4E6708B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1E73F449-4368-22DB-F73C-B5F12E46DF2B}"/>
              </a:ext>
            </a:extLst>
          </p:cNvPr>
          <p:cNvSpPr/>
          <p:nvPr/>
        </p:nvSpPr>
        <p:spPr>
          <a:xfrm>
            <a:off x="15801016" y="233354"/>
            <a:ext cx="973468" cy="973468"/>
          </a:xfrm>
          <a:custGeom>
            <a:avLst/>
            <a:gdLst/>
            <a:ahLst/>
            <a:cxnLst/>
            <a:rect l="l" t="t" r="r" b="b"/>
            <a:pathLst>
              <a:path w="973468" h="973468">
                <a:moveTo>
                  <a:pt x="0" y="0"/>
                </a:moveTo>
                <a:lnTo>
                  <a:pt x="973468" y="0"/>
                </a:lnTo>
                <a:lnTo>
                  <a:pt x="973468" y="973468"/>
                </a:lnTo>
                <a:lnTo>
                  <a:pt x="0" y="9734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9549E001-348E-BB37-F91D-6F5D3A69D166}"/>
              </a:ext>
            </a:extLst>
          </p:cNvPr>
          <p:cNvSpPr/>
          <p:nvPr/>
        </p:nvSpPr>
        <p:spPr>
          <a:xfrm>
            <a:off x="1399032" y="545212"/>
            <a:ext cx="57150" cy="570736"/>
          </a:xfrm>
          <a:custGeom>
            <a:avLst/>
            <a:gdLst/>
            <a:ahLst/>
            <a:cxnLst/>
            <a:rect l="l" t="t" r="r" b="b"/>
            <a:pathLst>
              <a:path w="57150" h="570736">
                <a:moveTo>
                  <a:pt x="0" y="0"/>
                </a:moveTo>
                <a:lnTo>
                  <a:pt x="57150" y="0"/>
                </a:lnTo>
                <a:lnTo>
                  <a:pt x="57150" y="570736"/>
                </a:lnTo>
                <a:lnTo>
                  <a:pt x="0" y="5707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98401C69-F12F-9AE5-3E1E-9B7D6995F638}"/>
              </a:ext>
            </a:extLst>
          </p:cNvPr>
          <p:cNvSpPr txBox="1"/>
          <p:nvPr/>
        </p:nvSpPr>
        <p:spPr>
          <a:xfrm>
            <a:off x="1665618" y="541962"/>
            <a:ext cx="686888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1" spc="35" dirty="0" err="1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Phân</a:t>
            </a:r>
            <a:r>
              <a:rPr lang="en-US" sz="3800" b="1" spc="35" dirty="0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 </a:t>
            </a:r>
            <a:r>
              <a:rPr lang="en-US" sz="3800" b="1" spc="35" dirty="0" err="1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cụm</a:t>
            </a:r>
            <a:r>
              <a:rPr lang="en-US" sz="3800" b="1" spc="35" dirty="0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 – K-Means</a:t>
            </a: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DC89A6C2-1B1D-5166-8713-449B7C3CFB0F}"/>
              </a:ext>
            </a:extLst>
          </p:cNvPr>
          <p:cNvSpPr txBox="1"/>
          <p:nvPr/>
        </p:nvSpPr>
        <p:spPr>
          <a:xfrm>
            <a:off x="636919" y="505050"/>
            <a:ext cx="1028699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spc="39" dirty="0">
                <a:solidFill>
                  <a:srgbClr val="000000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3.3</a:t>
            </a:r>
          </a:p>
        </p:txBody>
      </p:sp>
      <p:pic>
        <p:nvPicPr>
          <p:cNvPr id="30" name="Picture 2" descr="Viện Trí tuệ nhân tạo | Hanoi">
            <a:extLst>
              <a:ext uri="{FF2B5EF4-FFF2-40B4-BE49-F238E27FC236}">
                <a16:creationId xmlns:a16="http://schemas.microsoft.com/office/drawing/2014/main" id="{5D1043C3-1B9E-EAD8-522B-D790BD8D3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7967" y="233356"/>
            <a:ext cx="973466" cy="977812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</p:pic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D3F5960A-E52D-EE31-A691-B0D99688D00F}"/>
              </a:ext>
            </a:extLst>
          </p:cNvPr>
          <p:cNvSpPr txBox="1"/>
          <p:nvPr/>
        </p:nvSpPr>
        <p:spPr>
          <a:xfrm>
            <a:off x="623064" y="1183163"/>
            <a:ext cx="1642104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Mục tiêu: Phân nhóm người tập </a:t>
            </a:r>
            <a:r>
              <a:rPr lang="vi-V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gym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thành 4 cụm theo đặc điểm thể chất và tần suất tập luyện, để tìm ra nhóm có tỷ lệ thành công </a:t>
            </a:r>
          </a:p>
          <a:p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cao nhất và cá nhân hóa gợi ý </a:t>
            </a:r>
            <a:r>
              <a:rPr lang="vi-V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workout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trong hệ thống.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File gym_workout_sessions.csv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E7D3E326-68E0-894B-DEBD-722DC8110A19}"/>
              </a:ext>
            </a:extLst>
          </p:cNvPr>
          <p:cNvSpPr txBox="1"/>
          <p:nvPr/>
        </p:nvSpPr>
        <p:spPr>
          <a:xfrm>
            <a:off x="623064" y="2401404"/>
            <a:ext cx="1274100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(K=4):</a:t>
            </a:r>
          </a:p>
          <a:p>
            <a:endParaRPr lang="en-US" dirty="0"/>
          </a:p>
        </p:txBody>
      </p:sp>
      <p:graphicFrame>
        <p:nvGraphicFramePr>
          <p:cNvPr id="10" name="Bảng 9">
            <a:extLst>
              <a:ext uri="{FF2B5EF4-FFF2-40B4-BE49-F238E27FC236}">
                <a16:creationId xmlns:a16="http://schemas.microsoft.com/office/drawing/2014/main" id="{F466E67A-0378-AD1A-2B85-81A2109164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164015"/>
              </p:ext>
            </p:extLst>
          </p:nvPr>
        </p:nvGraphicFramePr>
        <p:xfrm>
          <a:off x="636919" y="2855527"/>
          <a:ext cx="8153400" cy="6583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53400">
                  <a:extLst>
                    <a:ext uri="{9D8B030D-6E8A-4147-A177-3AD203B41FA5}">
                      <a16:colId xmlns:a16="http://schemas.microsoft.com/office/drawing/2014/main" val="1785752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vi-VN" sz="2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Cluster</a:t>
                      </a:r>
                      <a:r>
                        <a:rPr lang="vi-V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0: Người thừa cân, độ tuổi trung niên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172 users | Success Rate: 50%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BMI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cao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(34.3), Fat%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trung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bình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(25.2%)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Tần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suất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tập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thấp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(3.2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ngày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tuần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426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sz="2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Cluster</a:t>
                      </a:r>
                      <a:r>
                        <a:rPr lang="vi-V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1: Người trẻ, cơ thể chuẩn 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273 users | Success Rate: 25%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BMI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thấp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(22.6), Fat%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cao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(28.6%)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Tần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suất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tập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thấp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nhất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(2.8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ngày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tuần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395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sz="2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Cluster</a:t>
                      </a:r>
                      <a:r>
                        <a:rPr lang="vi-V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2: Người lớn tuổi, cơ thể khỏe mạnh 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334 users | Success Rate: 38%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Tuổi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cao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nhất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(48.6), BMI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tốt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(22.1)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Tần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suất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tập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trung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bình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(3.2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ngày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tuần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972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Cluster 3: </a:t>
                      </a:r>
                      <a:r>
                        <a:rPr lang="vi-VN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Người tập đều, </a:t>
                      </a:r>
                      <a:r>
                        <a:rPr lang="vi-VN" sz="2400" b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Fat</a:t>
                      </a:r>
                      <a:r>
                        <a:rPr lang="vi-VN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% thấp</a:t>
                      </a: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194 users | Success Rate: 97%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BMI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cân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đối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(24.7), Fat%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thấp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(14.9%)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Tần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suất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tập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cao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nhất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(4.5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ngày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tuần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vi-V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Thời lượng tập cao nhất (26.4 phút) 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707682"/>
                  </a:ext>
                </a:extLst>
              </a:tr>
            </a:tbl>
          </a:graphicData>
        </a:graphic>
      </p:graphicFrame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87F14E86-B3CD-63E6-501D-6D8033E95C63}"/>
              </a:ext>
            </a:extLst>
          </p:cNvPr>
          <p:cNvSpPr txBox="1"/>
          <p:nvPr/>
        </p:nvSpPr>
        <p:spPr>
          <a:xfrm>
            <a:off x="9982200" y="4634374"/>
            <a:ext cx="9144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⇒ Insight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285750" indent="-285750"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≥4.5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tỷ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97% 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Fat%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Thành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63CDC0EB-9F81-45B8-A840-D7038E856FB1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5" name="Group 8">
            <a:extLst>
              <a:ext uri="{FF2B5EF4-FFF2-40B4-BE49-F238E27FC236}">
                <a16:creationId xmlns:a16="http://schemas.microsoft.com/office/drawing/2014/main" id="{FE18D3D9-CE5B-06BC-860B-4AE9914A331E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54E8BD8C-EBF6-8713-A6DE-44693958A12A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3E03FB13-72E0-9719-0213-84EF97BB7974}"/>
              </a:ext>
            </a:extLst>
          </p:cNvPr>
          <p:cNvSpPr txBox="1"/>
          <p:nvPr/>
        </p:nvSpPr>
        <p:spPr>
          <a:xfrm>
            <a:off x="270204" y="9846078"/>
            <a:ext cx="8111796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8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3DA979-9298-8FA1-355C-B0131B400B9F}"/>
              </a:ext>
            </a:extLst>
          </p:cNvPr>
          <p:cNvSpPr txBox="1"/>
          <p:nvPr/>
        </p:nvSpPr>
        <p:spPr>
          <a:xfrm>
            <a:off x="16916400" y="9859975"/>
            <a:ext cx="1065746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800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11/16</a:t>
            </a:r>
          </a:p>
        </p:txBody>
      </p:sp>
    </p:spTree>
    <p:extLst>
      <p:ext uri="{BB962C8B-B14F-4D97-AF65-F5344CB8AC3E}">
        <p14:creationId xmlns:p14="http://schemas.microsoft.com/office/powerpoint/2010/main" val="2608270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FA768-373C-68F6-22B9-E950EAD2F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3">
            <a:extLst>
              <a:ext uri="{FF2B5EF4-FFF2-40B4-BE49-F238E27FC236}">
                <a16:creationId xmlns:a16="http://schemas.microsoft.com/office/drawing/2014/main" id="{5F75AE0E-EB81-E563-3DFB-7A3CD223BC77}"/>
              </a:ext>
            </a:extLst>
          </p:cNvPr>
          <p:cNvSpPr/>
          <p:nvPr/>
        </p:nvSpPr>
        <p:spPr>
          <a:xfrm>
            <a:off x="15801016" y="233356"/>
            <a:ext cx="973466" cy="973466"/>
          </a:xfrm>
          <a:custGeom>
            <a:avLst/>
            <a:gdLst/>
            <a:ahLst/>
            <a:cxnLst/>
            <a:rect l="l" t="t" r="r" b="b"/>
            <a:pathLst>
              <a:path w="973466" h="973466">
                <a:moveTo>
                  <a:pt x="0" y="0"/>
                </a:moveTo>
                <a:lnTo>
                  <a:pt x="973466" y="0"/>
                </a:lnTo>
                <a:lnTo>
                  <a:pt x="973466" y="973466"/>
                </a:lnTo>
                <a:lnTo>
                  <a:pt x="0" y="9734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6" name="Picture 2" descr="Viện Trí tuệ nhân tạo | Hanoi">
            <a:extLst>
              <a:ext uri="{FF2B5EF4-FFF2-40B4-BE49-F238E27FC236}">
                <a16:creationId xmlns:a16="http://schemas.microsoft.com/office/drawing/2014/main" id="{ABD5D1C6-AFED-F8E5-5F7D-7CDBE23C6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7967" y="233356"/>
            <a:ext cx="973466" cy="977812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44EE30EF-8262-BDEE-6D8B-9E80A24B69EB}"/>
              </a:ext>
            </a:extLst>
          </p:cNvPr>
          <p:cNvSpPr txBox="1"/>
          <p:nvPr/>
        </p:nvSpPr>
        <p:spPr>
          <a:xfrm>
            <a:off x="7382904" y="2287339"/>
            <a:ext cx="3429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0" b="1" dirty="0">
                <a:solidFill>
                  <a:srgbClr val="0070C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04</a:t>
            </a:r>
            <a:r>
              <a:rPr lang="en-US" altLang="en-US" sz="20000" b="1" dirty="0">
                <a:solidFill>
                  <a:srgbClr val="0070C0"/>
                </a:solidFill>
                <a:latin typeface="Cambria Bold" panose="02040803050406030204" pitchFamily="18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endParaRPr lang="en-US" sz="20000" dirty="0">
              <a:solidFill>
                <a:srgbClr val="0070C0"/>
              </a:solidFill>
              <a:latin typeface="Cambria Bold" panose="02040803050406030204" pitchFamily="18" charset="0"/>
            </a:endParaRPr>
          </a:p>
        </p:txBody>
      </p:sp>
      <p:sp>
        <p:nvSpPr>
          <p:cNvPr id="4" name="Google Shape;1228;p70">
            <a:extLst>
              <a:ext uri="{FF2B5EF4-FFF2-40B4-BE49-F238E27FC236}">
                <a16:creationId xmlns:a16="http://schemas.microsoft.com/office/drawing/2014/main" id="{5B3B5810-604E-E94C-381E-4F1C570D3CB3}"/>
              </a:ext>
            </a:extLst>
          </p:cNvPr>
          <p:cNvSpPr/>
          <p:nvPr/>
        </p:nvSpPr>
        <p:spPr>
          <a:xfrm>
            <a:off x="6697607" y="5143499"/>
            <a:ext cx="4618200" cy="72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/>
          </a:p>
        </p:txBody>
      </p: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05C3D4C6-9E55-A95B-3FCE-F7EF9C8FD49F}"/>
              </a:ext>
            </a:extLst>
          </p:cNvPr>
          <p:cNvSpPr txBox="1"/>
          <p:nvPr/>
        </p:nvSpPr>
        <p:spPr>
          <a:xfrm>
            <a:off x="5997108" y="5753100"/>
            <a:ext cx="671409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 DỤNG</a:t>
            </a:r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25C611B2-3ED7-ACE3-915D-F426A3D729A5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11" name="Group 8">
            <a:extLst>
              <a:ext uri="{FF2B5EF4-FFF2-40B4-BE49-F238E27FC236}">
                <a16:creationId xmlns:a16="http://schemas.microsoft.com/office/drawing/2014/main" id="{BDCE8E10-C30D-FAAC-1C69-6FDFD7198975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14D38507-9686-AE35-FD1D-92B9561629D1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9" name="TextBox 11">
            <a:extLst>
              <a:ext uri="{FF2B5EF4-FFF2-40B4-BE49-F238E27FC236}">
                <a16:creationId xmlns:a16="http://schemas.microsoft.com/office/drawing/2014/main" id="{33B99213-FF7E-FCF8-FEDC-B1F17CFEDAB7}"/>
              </a:ext>
            </a:extLst>
          </p:cNvPr>
          <p:cNvSpPr txBox="1"/>
          <p:nvPr/>
        </p:nvSpPr>
        <p:spPr>
          <a:xfrm>
            <a:off x="270204" y="9846078"/>
            <a:ext cx="8111796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8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234D7A62-9D2D-AD58-FEA2-1370ECDD543A}"/>
              </a:ext>
            </a:extLst>
          </p:cNvPr>
          <p:cNvSpPr txBox="1"/>
          <p:nvPr/>
        </p:nvSpPr>
        <p:spPr>
          <a:xfrm>
            <a:off x="16916400" y="9859975"/>
            <a:ext cx="1065746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800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12/16</a:t>
            </a:r>
          </a:p>
        </p:txBody>
      </p:sp>
    </p:spTree>
    <p:extLst>
      <p:ext uri="{BB962C8B-B14F-4D97-AF65-F5344CB8AC3E}">
        <p14:creationId xmlns:p14="http://schemas.microsoft.com/office/powerpoint/2010/main" val="3671878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D0AE5-8BF6-99C1-8074-5D199F7A6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C2D9BC2C-8767-2B86-636F-DBDE5CA218E3}"/>
              </a:ext>
            </a:extLst>
          </p:cNvPr>
          <p:cNvSpPr/>
          <p:nvPr/>
        </p:nvSpPr>
        <p:spPr>
          <a:xfrm>
            <a:off x="15801016" y="233354"/>
            <a:ext cx="973468" cy="973468"/>
          </a:xfrm>
          <a:custGeom>
            <a:avLst/>
            <a:gdLst/>
            <a:ahLst/>
            <a:cxnLst/>
            <a:rect l="l" t="t" r="r" b="b"/>
            <a:pathLst>
              <a:path w="973468" h="973468">
                <a:moveTo>
                  <a:pt x="0" y="0"/>
                </a:moveTo>
                <a:lnTo>
                  <a:pt x="973468" y="0"/>
                </a:lnTo>
                <a:lnTo>
                  <a:pt x="973468" y="973468"/>
                </a:lnTo>
                <a:lnTo>
                  <a:pt x="0" y="9734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EB865B51-032A-0BD7-F9A0-CE8C03B15A2A}"/>
              </a:ext>
            </a:extLst>
          </p:cNvPr>
          <p:cNvSpPr/>
          <p:nvPr/>
        </p:nvSpPr>
        <p:spPr>
          <a:xfrm>
            <a:off x="1399032" y="545212"/>
            <a:ext cx="57150" cy="570736"/>
          </a:xfrm>
          <a:custGeom>
            <a:avLst/>
            <a:gdLst/>
            <a:ahLst/>
            <a:cxnLst/>
            <a:rect l="l" t="t" r="r" b="b"/>
            <a:pathLst>
              <a:path w="57150" h="570736">
                <a:moveTo>
                  <a:pt x="0" y="0"/>
                </a:moveTo>
                <a:lnTo>
                  <a:pt x="57150" y="0"/>
                </a:lnTo>
                <a:lnTo>
                  <a:pt x="57150" y="570736"/>
                </a:lnTo>
                <a:lnTo>
                  <a:pt x="0" y="5707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CD2B5470-4A6D-5ABA-87B9-95533009B4E4}"/>
              </a:ext>
            </a:extLst>
          </p:cNvPr>
          <p:cNvSpPr txBox="1"/>
          <p:nvPr/>
        </p:nvSpPr>
        <p:spPr>
          <a:xfrm>
            <a:off x="1665618" y="541962"/>
            <a:ext cx="686888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1" spc="35" dirty="0" err="1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Hệ</a:t>
            </a:r>
            <a:r>
              <a:rPr lang="en-US" sz="3800" b="1" spc="35" dirty="0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 </a:t>
            </a:r>
            <a:r>
              <a:rPr lang="en-US" sz="3800" b="1" spc="35" dirty="0" err="1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khuyến</a:t>
            </a:r>
            <a:r>
              <a:rPr lang="en-US" sz="3800" b="1" spc="35" dirty="0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 </a:t>
            </a:r>
            <a:r>
              <a:rPr lang="en-US" sz="3800" b="1" spc="35" dirty="0" err="1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nghị</a:t>
            </a:r>
            <a:endParaRPr lang="en-US" sz="3800" b="1" spc="35" dirty="0">
              <a:solidFill>
                <a:srgbClr val="000000"/>
              </a:solidFill>
              <a:latin typeface="Arial" panose="020B0604020202020204" pitchFamily="34" charset="0"/>
              <a:ea typeface="TT Rounds Condensed"/>
              <a:cs typeface="Arial" panose="020B0604020202020204" pitchFamily="34" charset="0"/>
              <a:sym typeface="TT Rounds Condensed"/>
            </a:endParaRP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0DD6F3EE-8E9F-E96F-F127-9A9F4B379F89}"/>
              </a:ext>
            </a:extLst>
          </p:cNvPr>
          <p:cNvSpPr txBox="1"/>
          <p:nvPr/>
        </p:nvSpPr>
        <p:spPr>
          <a:xfrm>
            <a:off x="636919" y="505050"/>
            <a:ext cx="1028699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spc="39" dirty="0">
                <a:solidFill>
                  <a:srgbClr val="000000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4.1</a:t>
            </a:r>
          </a:p>
        </p:txBody>
      </p:sp>
      <p:pic>
        <p:nvPicPr>
          <p:cNvPr id="30" name="Picture 2" descr="Viện Trí tuệ nhân tạo | Hanoi">
            <a:extLst>
              <a:ext uri="{FF2B5EF4-FFF2-40B4-BE49-F238E27FC236}">
                <a16:creationId xmlns:a16="http://schemas.microsoft.com/office/drawing/2014/main" id="{97F00F1B-0799-7BEF-010F-2BBCFBFDF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7967" y="233356"/>
            <a:ext cx="973466" cy="977812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</p:pic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AE76420F-31E2-F3A6-8F01-278E0A206959}"/>
              </a:ext>
            </a:extLst>
          </p:cNvPr>
          <p:cNvSpPr txBox="1"/>
          <p:nvPr/>
        </p:nvSpPr>
        <p:spPr>
          <a:xfrm>
            <a:off x="636919" y="1638300"/>
            <a:ext cx="121646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dirty="0">
                <a:latin typeface="+mj-lt"/>
              </a:rPr>
              <a:t>Mục tiêu: Gợi ý </a:t>
            </a:r>
            <a:r>
              <a:rPr lang="vi-VN" sz="2400" dirty="0" err="1">
                <a:latin typeface="+mj-lt"/>
              </a:rPr>
              <a:t>workout</a:t>
            </a:r>
            <a:r>
              <a:rPr lang="vi-VN" sz="2400" dirty="0">
                <a:latin typeface="+mj-lt"/>
              </a:rPr>
              <a:t> </a:t>
            </a:r>
            <a:r>
              <a:rPr lang="vi-VN" sz="2400" dirty="0" err="1">
                <a:latin typeface="+mj-lt"/>
              </a:rPr>
              <a:t>plan</a:t>
            </a:r>
            <a:r>
              <a:rPr lang="vi-VN" sz="2400" dirty="0">
                <a:latin typeface="+mj-lt"/>
              </a:rPr>
              <a:t> phù hợp cho người dùng mới dựa trên </a:t>
            </a:r>
            <a:r>
              <a:rPr lang="vi-VN" sz="2400" dirty="0" err="1">
                <a:latin typeface="+mj-lt"/>
              </a:rPr>
              <a:t>profile</a:t>
            </a:r>
            <a:r>
              <a:rPr lang="vi-VN" sz="2400" dirty="0">
                <a:latin typeface="+mj-lt"/>
              </a:rPr>
              <a:t> của họ</a:t>
            </a:r>
            <a:endParaRPr lang="en-US" sz="2400" dirty="0">
              <a:latin typeface="+mj-lt"/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A64AFC6A-DE38-924D-72F3-E5114D298083}"/>
              </a:ext>
            </a:extLst>
          </p:cNvPr>
          <p:cNvSpPr txBox="1"/>
          <p:nvPr/>
        </p:nvSpPr>
        <p:spPr>
          <a:xfrm>
            <a:off x="636919" y="2178463"/>
            <a:ext cx="127410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dirty="0">
                <a:latin typeface="+mj-lt"/>
              </a:rPr>
              <a:t>Quy trình khuyến nghị (4 bước):</a:t>
            </a:r>
            <a:endParaRPr lang="en-US" dirty="0">
              <a:latin typeface="+mj-lt"/>
            </a:endParaRPr>
          </a:p>
        </p:txBody>
      </p:sp>
      <p:graphicFrame>
        <p:nvGraphicFramePr>
          <p:cNvPr id="10" name="Bảng 9">
            <a:extLst>
              <a:ext uri="{FF2B5EF4-FFF2-40B4-BE49-F238E27FC236}">
                <a16:creationId xmlns:a16="http://schemas.microsoft.com/office/drawing/2014/main" id="{E9FD2B39-93AC-9A33-666B-A859A9AF2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720077"/>
              </p:ext>
            </p:extLst>
          </p:nvPr>
        </p:nvGraphicFramePr>
        <p:xfrm>
          <a:off x="636919" y="2945700"/>
          <a:ext cx="8153400" cy="61601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53400">
                  <a:extLst>
                    <a:ext uri="{9D8B030D-6E8A-4147-A177-3AD203B41FA5}">
                      <a16:colId xmlns:a16="http://schemas.microsoft.com/office/drawing/2014/main" val="1785752520"/>
                    </a:ext>
                  </a:extLst>
                </a:gridCol>
              </a:tblGrid>
              <a:tr h="990032">
                <a:tc>
                  <a:txBody>
                    <a:bodyPr/>
                    <a:lstStyle/>
                    <a:p>
                      <a:r>
                        <a:rPr lang="en-US" sz="2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Bước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</a:t>
                      </a:r>
                      <a:r>
                        <a:rPr lang="vi-V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Thu </a:t>
                      </a:r>
                      <a:r>
                        <a:rPr lang="en-US" sz="2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thập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thông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tin </a:t>
                      </a:r>
                      <a:r>
                        <a:rPr lang="en-US" sz="2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người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dùng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Tuổi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(Age), BMI, Fat%, Goal, Experience Level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426684"/>
                  </a:ext>
                </a:extLst>
              </a:tr>
              <a:tr h="990032">
                <a:tc>
                  <a:txBody>
                    <a:bodyPr/>
                    <a:lstStyle/>
                    <a:p>
                      <a:r>
                        <a:rPr lang="en-US" sz="2400" b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Bước</a:t>
                      </a: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2</a:t>
                      </a:r>
                      <a:r>
                        <a:rPr lang="vi-VN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Xác định </a:t>
                      </a:r>
                      <a:r>
                        <a:rPr lang="vi-VN" sz="2400" b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Cluster</a:t>
                      </a:r>
                      <a:r>
                        <a:rPr lang="vi-VN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(K-</a:t>
                      </a:r>
                      <a:r>
                        <a:rPr lang="vi-VN" sz="2400" b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Means</a:t>
                      </a:r>
                      <a:r>
                        <a:rPr lang="vi-VN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  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Dùng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model K-Means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để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phân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loại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user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vào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trong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4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nhóm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395256"/>
                  </a:ext>
                </a:extLst>
              </a:tr>
              <a:tr h="1430046">
                <a:tc>
                  <a:txBody>
                    <a:bodyPr/>
                    <a:lstStyle/>
                    <a:p>
                      <a:r>
                        <a:rPr lang="en-US" sz="2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Bước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3</a:t>
                      </a:r>
                      <a:r>
                        <a:rPr lang="vi-V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lang="vi-VN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Áp</a:t>
                      </a: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dụng</a:t>
                      </a: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Success Rules (</a:t>
                      </a:r>
                      <a:r>
                        <a:rPr lang="en-US" sz="2400" b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Apriori</a:t>
                      </a: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vi-VN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Tìm top 3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luật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kết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hợp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Lift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cao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nhất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cho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Goal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của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user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Extract: Workout Type, Protein Level, Time, Frequency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972835"/>
                  </a:ext>
                </a:extLst>
              </a:tr>
              <a:tr h="2750089">
                <a:tc>
                  <a:txBody>
                    <a:bodyPr/>
                    <a:lstStyle/>
                    <a:p>
                      <a:r>
                        <a:rPr lang="en-US" sz="2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Bước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4: </a:t>
                      </a:r>
                      <a:r>
                        <a:rPr lang="vi-VN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Đưa ra khuyến nghị cụ thể 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Loại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workout (Strength/Cardio/HIIT/Yoga) </a:t>
                      </a:r>
                    </a:p>
                    <a:p>
                      <a:pPr marL="285750" indent="-285750" algn="l" defTabSz="914400" rtl="0" eaLnBrk="1" latinLnBrk="0" hangingPunct="1">
                        <a:buFontTx/>
                        <a:buChar char="-"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Protein intake (Low/Medium/High) </a:t>
                      </a:r>
                    </a:p>
                    <a:p>
                      <a:pPr marL="285750" indent="-285750" algn="l" defTabSz="914400" rtl="0" eaLnBrk="1" latinLnBrk="0" hangingPunct="1">
                        <a:buFontTx/>
                        <a:buChar char="-"/>
                      </a:pP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Thời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gian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tập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tốt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nhất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(Morning/Afternoon/Evening) </a:t>
                      </a:r>
                    </a:p>
                    <a:p>
                      <a:pPr marL="285750" indent="-285750" algn="l" defTabSz="914400" rtl="0" eaLnBrk="1" latinLnBrk="0" hangingPunct="1">
                        <a:buFontTx/>
                        <a:buChar char="-"/>
                      </a:pP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Tần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suất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(Frequency: 4-5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ngày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tuần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</a:p>
                    <a:p>
                      <a:pPr marL="285750" indent="-285750" algn="l" defTabSz="914400" rtl="0" eaLnBrk="1" latinLnBrk="0" hangingPunct="1">
                        <a:buFontTx/>
                        <a:buChar char="-"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Danh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sách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bài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tập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phù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hợp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với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Experience Level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707682"/>
                  </a:ext>
                </a:extLst>
              </a:tr>
            </a:tbl>
          </a:graphicData>
        </a:graphic>
      </p:graphicFrame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22E8FD5F-1B10-471D-DB16-1DA289C1CC81}"/>
              </a:ext>
            </a:extLst>
          </p:cNvPr>
          <p:cNvSpPr txBox="1"/>
          <p:nvPr/>
        </p:nvSpPr>
        <p:spPr>
          <a:xfrm>
            <a:off x="10287000" y="4358670"/>
            <a:ext cx="9144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⇒ Lợi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285750" indent="-285750"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data-driven insights </a:t>
            </a:r>
          </a:p>
          <a:p>
            <a:pPr marL="285750" indent="-285750"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~56%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81-100%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trainer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member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D28493CA-551E-D384-D13B-9CF9DC1F91F6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11" name="Group 8">
            <a:extLst>
              <a:ext uri="{FF2B5EF4-FFF2-40B4-BE49-F238E27FC236}">
                <a16:creationId xmlns:a16="http://schemas.microsoft.com/office/drawing/2014/main" id="{2365AF75-B554-00A2-8877-CFE6BD3D0E6B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9697F5C4-2CB1-7EFB-E148-7E2AEEA23BA0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6" name="TextBox 11">
            <a:extLst>
              <a:ext uri="{FF2B5EF4-FFF2-40B4-BE49-F238E27FC236}">
                <a16:creationId xmlns:a16="http://schemas.microsoft.com/office/drawing/2014/main" id="{80AACCBB-72D3-9899-2EBD-F8507F21A37C}"/>
              </a:ext>
            </a:extLst>
          </p:cNvPr>
          <p:cNvSpPr txBox="1"/>
          <p:nvPr/>
        </p:nvSpPr>
        <p:spPr>
          <a:xfrm>
            <a:off x="270204" y="9846078"/>
            <a:ext cx="8111796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8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27" name="TextBox 12">
            <a:extLst>
              <a:ext uri="{FF2B5EF4-FFF2-40B4-BE49-F238E27FC236}">
                <a16:creationId xmlns:a16="http://schemas.microsoft.com/office/drawing/2014/main" id="{79761585-B329-25D6-353E-4C658C7A3530}"/>
              </a:ext>
            </a:extLst>
          </p:cNvPr>
          <p:cNvSpPr txBox="1"/>
          <p:nvPr/>
        </p:nvSpPr>
        <p:spPr>
          <a:xfrm>
            <a:off x="16916400" y="9859975"/>
            <a:ext cx="1065746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800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13/16</a:t>
            </a:r>
          </a:p>
        </p:txBody>
      </p:sp>
    </p:spTree>
    <p:extLst>
      <p:ext uri="{BB962C8B-B14F-4D97-AF65-F5344CB8AC3E}">
        <p14:creationId xmlns:p14="http://schemas.microsoft.com/office/powerpoint/2010/main" val="1581402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8FE4C-916C-9E32-5C4D-41AED5F9E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3">
            <a:extLst>
              <a:ext uri="{FF2B5EF4-FFF2-40B4-BE49-F238E27FC236}">
                <a16:creationId xmlns:a16="http://schemas.microsoft.com/office/drawing/2014/main" id="{FCE23AEF-3339-B42B-8D3A-85A3E1164BA4}"/>
              </a:ext>
            </a:extLst>
          </p:cNvPr>
          <p:cNvSpPr/>
          <p:nvPr/>
        </p:nvSpPr>
        <p:spPr>
          <a:xfrm>
            <a:off x="15801016" y="233356"/>
            <a:ext cx="973466" cy="973466"/>
          </a:xfrm>
          <a:custGeom>
            <a:avLst/>
            <a:gdLst/>
            <a:ahLst/>
            <a:cxnLst/>
            <a:rect l="l" t="t" r="r" b="b"/>
            <a:pathLst>
              <a:path w="973466" h="973466">
                <a:moveTo>
                  <a:pt x="0" y="0"/>
                </a:moveTo>
                <a:lnTo>
                  <a:pt x="973466" y="0"/>
                </a:lnTo>
                <a:lnTo>
                  <a:pt x="973466" y="973466"/>
                </a:lnTo>
                <a:lnTo>
                  <a:pt x="0" y="9734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6" name="Picture 2" descr="Viện Trí tuệ nhân tạo | Hanoi">
            <a:extLst>
              <a:ext uri="{FF2B5EF4-FFF2-40B4-BE49-F238E27FC236}">
                <a16:creationId xmlns:a16="http://schemas.microsoft.com/office/drawing/2014/main" id="{52F8FFB5-41D9-B47F-386D-D500DAF74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7967" y="233356"/>
            <a:ext cx="973466" cy="977812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6205CA8F-9022-34B8-45EF-C65F0E51EF26}"/>
              </a:ext>
            </a:extLst>
          </p:cNvPr>
          <p:cNvSpPr txBox="1"/>
          <p:nvPr/>
        </p:nvSpPr>
        <p:spPr>
          <a:xfrm>
            <a:off x="7382904" y="2287339"/>
            <a:ext cx="3429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0" b="1" dirty="0">
                <a:solidFill>
                  <a:srgbClr val="0070C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05</a:t>
            </a:r>
            <a:r>
              <a:rPr lang="en-US" altLang="en-US" sz="20000" b="1" dirty="0">
                <a:solidFill>
                  <a:srgbClr val="0070C0"/>
                </a:solidFill>
                <a:latin typeface="Cambria Bold" panose="02040803050406030204" pitchFamily="18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endParaRPr lang="en-US" sz="20000" dirty="0">
              <a:solidFill>
                <a:srgbClr val="0070C0"/>
              </a:solidFill>
              <a:latin typeface="Cambria Bold" panose="02040803050406030204" pitchFamily="18" charset="0"/>
            </a:endParaRPr>
          </a:p>
        </p:txBody>
      </p:sp>
      <p:sp>
        <p:nvSpPr>
          <p:cNvPr id="4" name="Google Shape;1228;p70">
            <a:extLst>
              <a:ext uri="{FF2B5EF4-FFF2-40B4-BE49-F238E27FC236}">
                <a16:creationId xmlns:a16="http://schemas.microsoft.com/office/drawing/2014/main" id="{C2B304B4-36F0-35DE-332E-5C56BD451647}"/>
              </a:ext>
            </a:extLst>
          </p:cNvPr>
          <p:cNvSpPr/>
          <p:nvPr/>
        </p:nvSpPr>
        <p:spPr>
          <a:xfrm>
            <a:off x="6697607" y="5143499"/>
            <a:ext cx="4618200" cy="72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/>
          </a:p>
        </p:txBody>
      </p: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9D89062B-FE0A-C42F-873C-1D6CB261428D}"/>
              </a:ext>
            </a:extLst>
          </p:cNvPr>
          <p:cNvSpPr txBox="1"/>
          <p:nvPr/>
        </p:nvSpPr>
        <p:spPr>
          <a:xfrm>
            <a:off x="5997108" y="5753100"/>
            <a:ext cx="671409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 LUẬN</a:t>
            </a:r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B34B02B1-B0D6-C2B3-5DB0-7AA994DFD42F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11" name="Group 8">
            <a:extLst>
              <a:ext uri="{FF2B5EF4-FFF2-40B4-BE49-F238E27FC236}">
                <a16:creationId xmlns:a16="http://schemas.microsoft.com/office/drawing/2014/main" id="{76D44A52-08A4-BB0F-3AEE-E8DD886390E0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C3C49F5F-8FCA-FFE5-7FDF-398828CFA983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9" name="TextBox 11">
            <a:extLst>
              <a:ext uri="{FF2B5EF4-FFF2-40B4-BE49-F238E27FC236}">
                <a16:creationId xmlns:a16="http://schemas.microsoft.com/office/drawing/2014/main" id="{51678143-0BF8-0BA6-AE33-5E61EB7E1C31}"/>
              </a:ext>
            </a:extLst>
          </p:cNvPr>
          <p:cNvSpPr txBox="1"/>
          <p:nvPr/>
        </p:nvSpPr>
        <p:spPr>
          <a:xfrm>
            <a:off x="270204" y="9846078"/>
            <a:ext cx="8111796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8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396B2914-6EDF-936F-968F-CF106437E2EA}"/>
              </a:ext>
            </a:extLst>
          </p:cNvPr>
          <p:cNvSpPr txBox="1"/>
          <p:nvPr/>
        </p:nvSpPr>
        <p:spPr>
          <a:xfrm>
            <a:off x="16916400" y="9859975"/>
            <a:ext cx="1065746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800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14/16</a:t>
            </a:r>
          </a:p>
        </p:txBody>
      </p:sp>
    </p:spTree>
    <p:extLst>
      <p:ext uri="{BB962C8B-B14F-4D97-AF65-F5344CB8AC3E}">
        <p14:creationId xmlns:p14="http://schemas.microsoft.com/office/powerpoint/2010/main" val="3228424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39BD7-DEFA-A85D-6FF3-69DF7E5F9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2C78442-0664-2F06-ED19-4B0850612B75}"/>
              </a:ext>
            </a:extLst>
          </p:cNvPr>
          <p:cNvSpPr/>
          <p:nvPr/>
        </p:nvSpPr>
        <p:spPr>
          <a:xfrm>
            <a:off x="15801016" y="233354"/>
            <a:ext cx="973468" cy="973468"/>
          </a:xfrm>
          <a:custGeom>
            <a:avLst/>
            <a:gdLst/>
            <a:ahLst/>
            <a:cxnLst/>
            <a:rect l="l" t="t" r="r" b="b"/>
            <a:pathLst>
              <a:path w="973468" h="973468">
                <a:moveTo>
                  <a:pt x="0" y="0"/>
                </a:moveTo>
                <a:lnTo>
                  <a:pt x="973468" y="0"/>
                </a:lnTo>
                <a:lnTo>
                  <a:pt x="973468" y="973468"/>
                </a:lnTo>
                <a:lnTo>
                  <a:pt x="0" y="9734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E9D58AAB-CD64-98D7-1765-2F0585761E55}"/>
              </a:ext>
            </a:extLst>
          </p:cNvPr>
          <p:cNvSpPr/>
          <p:nvPr/>
        </p:nvSpPr>
        <p:spPr>
          <a:xfrm>
            <a:off x="1399032" y="545212"/>
            <a:ext cx="57150" cy="570736"/>
          </a:xfrm>
          <a:custGeom>
            <a:avLst/>
            <a:gdLst/>
            <a:ahLst/>
            <a:cxnLst/>
            <a:rect l="l" t="t" r="r" b="b"/>
            <a:pathLst>
              <a:path w="57150" h="570736">
                <a:moveTo>
                  <a:pt x="0" y="0"/>
                </a:moveTo>
                <a:lnTo>
                  <a:pt x="57150" y="0"/>
                </a:lnTo>
                <a:lnTo>
                  <a:pt x="57150" y="570736"/>
                </a:lnTo>
                <a:lnTo>
                  <a:pt x="0" y="5707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8CAB9ACF-1695-D590-66D0-9C702D2C3B0C}"/>
              </a:ext>
            </a:extLst>
          </p:cNvPr>
          <p:cNvSpPr txBox="1"/>
          <p:nvPr/>
        </p:nvSpPr>
        <p:spPr>
          <a:xfrm>
            <a:off x="1665618" y="541962"/>
            <a:ext cx="686888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1" spc="35" dirty="0" err="1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Kết</a:t>
            </a:r>
            <a:r>
              <a:rPr lang="en-US" sz="3800" b="1" spc="35" dirty="0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 </a:t>
            </a:r>
            <a:r>
              <a:rPr lang="en-US" sz="3800" b="1" spc="35" dirty="0" err="1">
                <a:solidFill>
                  <a:srgbClr val="000000"/>
                </a:solidFill>
                <a:latin typeface="Arial" panose="020B0604020202020204" pitchFamily="34" charset="0"/>
                <a:ea typeface="TT Rounds Condensed"/>
                <a:cs typeface="Arial" panose="020B0604020202020204" pitchFamily="34" charset="0"/>
                <a:sym typeface="TT Rounds Condensed"/>
              </a:rPr>
              <a:t>luận</a:t>
            </a:r>
            <a:endParaRPr lang="en-US" sz="3800" b="1" spc="35" dirty="0">
              <a:solidFill>
                <a:srgbClr val="000000"/>
              </a:solidFill>
              <a:latin typeface="Arial" panose="020B0604020202020204" pitchFamily="34" charset="0"/>
              <a:ea typeface="TT Rounds Condensed"/>
              <a:cs typeface="Arial" panose="020B0604020202020204" pitchFamily="34" charset="0"/>
              <a:sym typeface="TT Rounds Condensed"/>
            </a:endParaRP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7CBD3451-4439-9E9D-4C32-E146A753C470}"/>
              </a:ext>
            </a:extLst>
          </p:cNvPr>
          <p:cNvSpPr txBox="1"/>
          <p:nvPr/>
        </p:nvSpPr>
        <p:spPr>
          <a:xfrm>
            <a:off x="636919" y="505050"/>
            <a:ext cx="1028699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spc="39" dirty="0">
                <a:solidFill>
                  <a:srgbClr val="000000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5.1</a:t>
            </a:r>
          </a:p>
        </p:txBody>
      </p:sp>
      <p:pic>
        <p:nvPicPr>
          <p:cNvPr id="30" name="Picture 2" descr="Viện Trí tuệ nhân tạo | Hanoi">
            <a:extLst>
              <a:ext uri="{FF2B5EF4-FFF2-40B4-BE49-F238E27FC236}">
                <a16:creationId xmlns:a16="http://schemas.microsoft.com/office/drawing/2014/main" id="{A97E16DB-BF27-964E-96B2-C6DD84541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7967" y="233356"/>
            <a:ext cx="973466" cy="977812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</p:pic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3E83347C-D066-E0F4-8A63-6322BE1B7220}"/>
              </a:ext>
            </a:extLst>
          </p:cNvPr>
          <p:cNvSpPr/>
          <p:nvPr/>
        </p:nvSpPr>
        <p:spPr>
          <a:xfrm>
            <a:off x="636919" y="3689382"/>
            <a:ext cx="6868880" cy="381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Times New Roman" panose="02020603050405020304" pitchFamily="18" charset="0"/>
              <a:buChar char="–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augmented (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tracking data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gym)</a:t>
            </a:r>
          </a:p>
          <a:p>
            <a:pPr marL="342900" indent="-342900">
              <a:buFont typeface="Times New Roman" panose="02020603050405020304" pitchFamily="18" charset="0"/>
              <a:buChar char="–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 criteria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thất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buFont typeface="Times New Roman" panose="02020603050405020304" pitchFamily="18" charset="0"/>
              <a:buChar char="–"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nutrition tracking chi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Times New Roman" panose="02020603050405020304" pitchFamily="18" charset="0"/>
              <a:buChar char="–"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stress,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sức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khỏe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tinh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buFont typeface="Times New Roman" panose="02020603050405020304" pitchFamily="18" charset="0"/>
              <a:buChar char="–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thiếu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82C9E5BD-C142-24EA-8D60-9EE010B9C50D}"/>
              </a:ext>
            </a:extLst>
          </p:cNvPr>
          <p:cNvSpPr/>
          <p:nvPr/>
        </p:nvSpPr>
        <p:spPr>
          <a:xfrm>
            <a:off x="636919" y="2772134"/>
            <a:ext cx="6868880" cy="9808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0766516D-F04D-16E7-0C05-C1CF700D457A}"/>
              </a:ext>
            </a:extLst>
          </p:cNvPr>
          <p:cNvSpPr/>
          <p:nvPr/>
        </p:nvSpPr>
        <p:spPr>
          <a:xfrm>
            <a:off x="9905604" y="3728742"/>
            <a:ext cx="6868880" cy="25973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Times New Roman" panose="02020603050405020304" pitchFamily="18" charset="0"/>
              <a:buChar char="–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thập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real-world data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wearable devices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mobile app</a:t>
            </a:r>
          </a:p>
          <a:p>
            <a:pPr marL="342900" indent="-342900">
              <a:buFont typeface="Times New Roman" panose="02020603050405020304" pitchFamily="18" charset="0"/>
              <a:buChar char="–"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Nâng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models: Deep Learning, Time-series analysis</a:t>
            </a:r>
          </a:p>
          <a:p>
            <a:pPr marL="342900" indent="-342900">
              <a:buFont typeface="Times New Roman" panose="02020603050405020304" pitchFamily="18" charset="0"/>
              <a:buChar char="–"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API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gym management software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real-time recommendations</a:t>
            </a: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84691EF8-D099-0A82-107F-C42D53156F82}"/>
              </a:ext>
            </a:extLst>
          </p:cNvPr>
          <p:cNvSpPr/>
          <p:nvPr/>
        </p:nvSpPr>
        <p:spPr>
          <a:xfrm>
            <a:off x="9905604" y="2772134"/>
            <a:ext cx="6868880" cy="9808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lai</a:t>
            </a: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523ED133-2D90-3330-E338-EC24D6C07200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12" name="Group 8">
            <a:extLst>
              <a:ext uri="{FF2B5EF4-FFF2-40B4-BE49-F238E27FC236}">
                <a16:creationId xmlns:a16="http://schemas.microsoft.com/office/drawing/2014/main" id="{272B4113-9C1A-559A-3ACD-E1C22F5C0488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E3A6C6F-607E-F8CF-BD17-78654C72ABCC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6" name="TextBox 11">
            <a:extLst>
              <a:ext uri="{FF2B5EF4-FFF2-40B4-BE49-F238E27FC236}">
                <a16:creationId xmlns:a16="http://schemas.microsoft.com/office/drawing/2014/main" id="{F4B3D9DF-8F42-64F6-A2D5-BF7DB03ECCCC}"/>
              </a:ext>
            </a:extLst>
          </p:cNvPr>
          <p:cNvSpPr txBox="1"/>
          <p:nvPr/>
        </p:nvSpPr>
        <p:spPr>
          <a:xfrm>
            <a:off x="270204" y="9846078"/>
            <a:ext cx="8111796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8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27" name="TextBox 12">
            <a:extLst>
              <a:ext uri="{FF2B5EF4-FFF2-40B4-BE49-F238E27FC236}">
                <a16:creationId xmlns:a16="http://schemas.microsoft.com/office/drawing/2014/main" id="{F336F184-E55F-F314-10B0-7483664AA33C}"/>
              </a:ext>
            </a:extLst>
          </p:cNvPr>
          <p:cNvSpPr txBox="1"/>
          <p:nvPr/>
        </p:nvSpPr>
        <p:spPr>
          <a:xfrm>
            <a:off x="16916400" y="9859975"/>
            <a:ext cx="1065746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800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15/16</a:t>
            </a:r>
          </a:p>
        </p:txBody>
      </p:sp>
    </p:spTree>
    <p:extLst>
      <p:ext uri="{BB962C8B-B14F-4D97-AF65-F5344CB8AC3E}">
        <p14:creationId xmlns:p14="http://schemas.microsoft.com/office/powerpoint/2010/main" val="1960725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801016" y="233354"/>
            <a:ext cx="973468" cy="973468"/>
          </a:xfrm>
          <a:custGeom>
            <a:avLst/>
            <a:gdLst/>
            <a:ahLst/>
            <a:cxnLst/>
            <a:rect l="l" t="t" r="r" b="b"/>
            <a:pathLst>
              <a:path w="973468" h="973468">
                <a:moveTo>
                  <a:pt x="0" y="0"/>
                </a:moveTo>
                <a:lnTo>
                  <a:pt x="973468" y="0"/>
                </a:lnTo>
                <a:lnTo>
                  <a:pt x="973468" y="973468"/>
                </a:lnTo>
                <a:lnTo>
                  <a:pt x="0" y="973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6654018" y="3086100"/>
            <a:ext cx="4979963" cy="4114800"/>
          </a:xfrm>
          <a:custGeom>
            <a:avLst/>
            <a:gdLst/>
            <a:ahLst/>
            <a:cxnLst/>
            <a:rect l="l" t="t" r="r" b="b"/>
            <a:pathLst>
              <a:path w="4979963" h="4114800">
                <a:moveTo>
                  <a:pt x="0" y="0"/>
                </a:moveTo>
                <a:lnTo>
                  <a:pt x="4979964" y="0"/>
                </a:lnTo>
                <a:lnTo>
                  <a:pt x="49799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2" name="Picture 2" descr="Viện Trí tuệ nhân tạo | Hanoi">
            <a:extLst>
              <a:ext uri="{FF2B5EF4-FFF2-40B4-BE49-F238E27FC236}">
                <a16:creationId xmlns:a16="http://schemas.microsoft.com/office/drawing/2014/main" id="{DCED1DC0-DD6C-F1C5-F253-83C4FB2F2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7967" y="233356"/>
            <a:ext cx="973466" cy="977812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</p:pic>
      <p:sp>
        <p:nvSpPr>
          <p:cNvPr id="2" name="TextBox 4">
            <a:extLst>
              <a:ext uri="{FF2B5EF4-FFF2-40B4-BE49-F238E27FC236}">
                <a16:creationId xmlns:a16="http://schemas.microsoft.com/office/drawing/2014/main" id="{6917ECB1-B1BA-A44E-787A-2B4434BFD89D}"/>
              </a:ext>
            </a:extLst>
          </p:cNvPr>
          <p:cNvSpPr txBox="1"/>
          <p:nvPr/>
        </p:nvSpPr>
        <p:spPr>
          <a:xfrm>
            <a:off x="270204" y="9888550"/>
            <a:ext cx="17654400" cy="30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2"/>
              </a:lnSpc>
            </a:pPr>
            <a:r>
              <a:rPr lang="en-US" sz="1993" b="1" spc="18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45513035-9AE1-A7FD-40F8-5D1DB7E2DCE9}"/>
              </a:ext>
            </a:extLst>
          </p:cNvPr>
          <p:cNvGrpSpPr/>
          <p:nvPr/>
        </p:nvGrpSpPr>
        <p:grpSpPr>
          <a:xfrm>
            <a:off x="0" y="9740646"/>
            <a:ext cx="18288000" cy="548638"/>
            <a:chOff x="0" y="0"/>
            <a:chExt cx="24384000" cy="731517"/>
          </a:xfrm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DC6194AE-8EAF-0929-51A6-82F4E4B4829B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11">
            <a:extLst>
              <a:ext uri="{FF2B5EF4-FFF2-40B4-BE49-F238E27FC236}">
                <a16:creationId xmlns:a16="http://schemas.microsoft.com/office/drawing/2014/main" id="{32FE0D44-5E3B-E5C8-A6FE-466D074225C1}"/>
              </a:ext>
            </a:extLst>
          </p:cNvPr>
          <p:cNvSpPr txBox="1"/>
          <p:nvPr/>
        </p:nvSpPr>
        <p:spPr>
          <a:xfrm>
            <a:off x="270204" y="9846078"/>
            <a:ext cx="8111796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800" b="1" spc="22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VNU UET - Institute for Artificial Intelligence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089A07BD-EE66-409E-929A-582C2BF375D9}"/>
              </a:ext>
            </a:extLst>
          </p:cNvPr>
          <p:cNvSpPr txBox="1"/>
          <p:nvPr/>
        </p:nvSpPr>
        <p:spPr>
          <a:xfrm>
            <a:off x="16916400" y="9859975"/>
            <a:ext cx="1065746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800" b="1" spc="21" dirty="0">
                <a:solidFill>
                  <a:srgbClr val="FFFFFF"/>
                </a:solidFill>
                <a:latin typeface="Cambria Bold" panose="02040803050406030204" pitchFamily="18" charset="0"/>
                <a:ea typeface="TT Rounds Condensed Bold"/>
                <a:cs typeface="TT Rounds Condensed Bold"/>
                <a:sym typeface="TT Rounds Condensed Bold"/>
              </a:rP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1785</TotalTime>
  <Words>1936</Words>
  <Application>Microsoft Office PowerPoint</Application>
  <PresentationFormat>Tùy chỉnh</PresentationFormat>
  <Paragraphs>247</Paragraphs>
  <Slides>16</Slides>
  <Notes>15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7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16</vt:i4>
      </vt:variant>
    </vt:vector>
  </HeadingPairs>
  <TitlesOfParts>
    <vt:vector size="24" baseType="lpstr">
      <vt:lpstr>Times New Roman</vt:lpstr>
      <vt:lpstr>Calibri</vt:lpstr>
      <vt:lpstr>TT Rounds Condensed Bold</vt:lpstr>
      <vt:lpstr>Segoe UI Black</vt:lpstr>
      <vt:lpstr>Arial</vt:lpstr>
      <vt:lpstr>Cambria Bold</vt:lpstr>
      <vt:lpstr>Symbol</vt:lpstr>
      <vt:lpstr>Office Theme</vt:lpstr>
      <vt:lpstr>Bản trình bày PowerPoint</vt:lpstr>
      <vt:lpstr>MỤC LỤC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Bigdata.pptx</dc:title>
  <dc:creator>minh minh</dc:creator>
  <cp:lastModifiedBy>minh minh</cp:lastModifiedBy>
  <cp:revision>11</cp:revision>
  <dcterms:created xsi:type="dcterms:W3CDTF">2006-08-16T00:00:00Z</dcterms:created>
  <dcterms:modified xsi:type="dcterms:W3CDTF">2025-12-19T04:52:57Z</dcterms:modified>
  <dc:identifier>DAGYq2251TM</dc:identifier>
</cp:coreProperties>
</file>